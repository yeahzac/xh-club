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</p:sldMasterIdLst>
  <p:notesMasterIdLst>
    <p:notesMasterId r:id="rId9"/>
  </p:notesMasterIdLst>
  <p:sldIdLst>
    <p:sldId id="256" r:id="rId8"/>
    <p:sldId id="261" r:id="rId10"/>
    <p:sldId id="259" r:id="rId11"/>
    <p:sldId id="260" r:id="rId12"/>
    <p:sldId id="264" r:id="rId13"/>
    <p:sldId id="280" r:id="rId14"/>
    <p:sldId id="278" r:id="rId15"/>
    <p:sldId id="265" r:id="rId16"/>
    <p:sldId id="266" r:id="rId17"/>
    <p:sldId id="281" r:id="rId18"/>
    <p:sldId id="267" r:id="rId19"/>
    <p:sldId id="269" r:id="rId20"/>
    <p:sldId id="277" r:id="rId21"/>
    <p:sldId id="268" r:id="rId22"/>
    <p:sldId id="272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52" userDrawn="1">
          <p15:clr>
            <a:srgbClr val="747775"/>
          </p15:clr>
        </p15:guide>
        <p15:guide id="2" pos="293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52"/>
        <p:guide pos="293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伙伴，大家好！今天给大家带来星河俱乐部&amp;洗刷刷商业合作分享。我们手握3400万精准车主用户、4000多家渠道加盟商、上万个线下服务点，打通线上线下全场景，今天就和大家聊聊，如何一起打造万亿级消费新生态，实现合作共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聊完我们的实力，再说说目前很多同行、商家、创业者都在头疼的问题，一共五大痛点：渠道难、缺人才、没流量、不赚钱、资金紧。这些问题，相信在场很多朋友都深有体会。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洗刷刷2014年成立，是国内头部智能洗车平台。十二年发展下来，我们早已不只是单纯做洗车服务，而是集设备研发、线上运营、流量引流于一体的汽车后市场综合平台。目前我们拥有4000多家稳定渠道商、12000多个线下服务站点、3400多万高粘性车主会员，全年流水超20亿，商业模式和变现能力都经过市场验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此之外，我们还和各行各业头部企业深度合作，资源非常广。包括汽车服务领域的途虎、瓜子，新能源车企比亚迪、蔚来、小鹏，以及线上流量平台抖音、美团。多方联手，每天都有源源不断的精准客户和订单，这也是我们能持续发展的核心底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讲大家最关心的：具体怎么合作。先讲线下门店合作，拿品牌铺货举例：我们把遍布全国的洗车站点，改造成大家的产品体验店、售卖店，实现三方共赢。品牌方低成本拓市场，门店多一份收入，车主也能享受更多优质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种合作方式：入驻我们线上商城。产品直接上架，我们通过APP推送等方式触达3400万会员，客户线上下单，成交更快。这套模式有四大优势：流量精准、平台自带口碑信任、上手快、还有全国几千家渠道帮忙推广，合作门槛特别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讲大家最关心的：具体怎么合作。先讲线下门店合作，拿品牌铺货举例：我们把遍布全国的洗车站点，改造成大家的产品体验店、售卖店，实现三方共赢。品牌方低成本拓市场，门店多一份收入，车主也能享受更多优质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种合作方式：入驻我们线上商城。产品直接上架，我们通过APP推送等方式触达3400万会员，客户线上下单，成交更快。这套模式有四大优势：流量精准、平台自带口碑信任、上手快、还有全国几千家渠道帮忙推广，合作门槛特别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聊完合作模式，再说说我们长远的生态规划。我们不想只做简单合作，而是要和所有伙伴抱团共生、一起把市场做大：通过跨界融合、数据共享和品牌共建，共同挖掘更多赚钱机会，提升品牌影响力。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聊完合作模式，再说说我们长远的生态规划。我们不想只做简单合作，而是要和所有伙伴抱团共生、一起把市场做大：通过跨界融合、数据共享和品牌共建，共同挖掘更多赚钱机会，提升品牌影响力。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同时我们制定了清晰的“1000-100-10”发展战略：吸纳1000个优质项目，筛选100个重点扶持，最终打造10个顶尖标杆项目，对接资本，助力走向资本市场，实现价值翻倍。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我们的目光不止局限在国内，现在已经正式启动全球化布局：第一步深耕东南亚东盟国家，第二步将成熟模式优化落地，第三步以东盟为起点，沿着一带一路持续拓展，打造全球化服务网络，未来发展空间巨大。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聊完合作模式，再说说我们长远的生态规划。我们不想只做简单合作，而是要和所有伙伴抱团共生、一起把市场做大：通过跨界融合、数据共享和品牌共建，共同挖掘更多赚钱机会，提升品牌影响力。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对于想创业、想找新项目的朋友来说，这里就是绝佳平台：项目成熟，拿来就做；全程帮扶，专业指导；低风险高回报，共享千万用户，安稳赚收益。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最后放上我们的合作热线、官网和邮箱，大家有任何问题、合作想法，随时联系我们。期待和各位伙伴携手同行，入驻星河，合作共赢！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3" Type="http://schemas.openxmlformats.org/officeDocument/2006/relationships/notesSlide" Target="../notesSlides/notesSlide2.xml"/><Relationship Id="rId42" Type="http://schemas.openxmlformats.org/officeDocument/2006/relationships/slideLayout" Target="../slideLayouts/slideLayout12.xml"/><Relationship Id="rId41" Type="http://schemas.openxmlformats.org/officeDocument/2006/relationships/tags" Target="../tags/tag30.xml"/><Relationship Id="rId40" Type="http://schemas.openxmlformats.org/officeDocument/2006/relationships/tags" Target="../tags/tag29.xml"/><Relationship Id="rId4" Type="http://schemas.openxmlformats.org/officeDocument/2006/relationships/tags" Target="../tags/tag3.xml"/><Relationship Id="rId39" Type="http://schemas.openxmlformats.org/officeDocument/2006/relationships/tags" Target="../tags/tag28.xml"/><Relationship Id="rId38" Type="http://schemas.openxmlformats.org/officeDocument/2006/relationships/image" Target="../media/image12.svg"/><Relationship Id="rId37" Type="http://schemas.openxmlformats.org/officeDocument/2006/relationships/image" Target="../media/image11.png"/><Relationship Id="rId36" Type="http://schemas.openxmlformats.org/officeDocument/2006/relationships/tags" Target="../tags/tag27.xml"/><Relationship Id="rId35" Type="http://schemas.openxmlformats.org/officeDocument/2006/relationships/tags" Target="../tags/tag26.xml"/><Relationship Id="rId34" Type="http://schemas.openxmlformats.org/officeDocument/2006/relationships/tags" Target="../tags/tag25.xml"/><Relationship Id="rId33" Type="http://schemas.openxmlformats.org/officeDocument/2006/relationships/tags" Target="../tags/tag24.xml"/><Relationship Id="rId32" Type="http://schemas.openxmlformats.org/officeDocument/2006/relationships/tags" Target="../tags/tag23.xml"/><Relationship Id="rId31" Type="http://schemas.openxmlformats.org/officeDocument/2006/relationships/tags" Target="../tags/tag22.xml"/><Relationship Id="rId30" Type="http://schemas.openxmlformats.org/officeDocument/2006/relationships/image" Target="../media/image10.svg"/><Relationship Id="rId3" Type="http://schemas.openxmlformats.org/officeDocument/2006/relationships/tags" Target="../tags/tag2.xml"/><Relationship Id="rId29" Type="http://schemas.openxmlformats.org/officeDocument/2006/relationships/image" Target="../media/image9.png"/><Relationship Id="rId28" Type="http://schemas.openxmlformats.org/officeDocument/2006/relationships/tags" Target="../tags/tag21.xml"/><Relationship Id="rId27" Type="http://schemas.openxmlformats.org/officeDocument/2006/relationships/tags" Target="../tags/tag20.xml"/><Relationship Id="rId26" Type="http://schemas.openxmlformats.org/officeDocument/2006/relationships/tags" Target="../tags/tag19.xml"/><Relationship Id="rId25" Type="http://schemas.openxmlformats.org/officeDocument/2006/relationships/tags" Target="../tags/tag18.xml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image" Target="../media/image8.svg"/><Relationship Id="rId21" Type="http://schemas.openxmlformats.org/officeDocument/2006/relationships/image" Target="../media/image7.png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3.jpeg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tags" Target="../tags/tag45.xml"/><Relationship Id="rId35" Type="http://schemas.openxmlformats.org/officeDocument/2006/relationships/notesSlide" Target="../notesSlides/notesSlide4.xml"/><Relationship Id="rId34" Type="http://schemas.openxmlformats.org/officeDocument/2006/relationships/slideLayout" Target="../slideLayouts/slideLayout12.xml"/><Relationship Id="rId33" Type="http://schemas.openxmlformats.org/officeDocument/2006/relationships/tags" Target="../tags/tag66.xml"/><Relationship Id="rId32" Type="http://schemas.openxmlformats.org/officeDocument/2006/relationships/tags" Target="../tags/tag65.xml"/><Relationship Id="rId31" Type="http://schemas.openxmlformats.org/officeDocument/2006/relationships/tags" Target="../tags/tag64.xml"/><Relationship Id="rId30" Type="http://schemas.openxmlformats.org/officeDocument/2006/relationships/tags" Target="../tags/tag63.xml"/><Relationship Id="rId3" Type="http://schemas.openxmlformats.org/officeDocument/2006/relationships/tags" Target="../tags/tag44.xml"/><Relationship Id="rId29" Type="http://schemas.openxmlformats.org/officeDocument/2006/relationships/image" Target="../media/image21.svg"/><Relationship Id="rId28" Type="http://schemas.openxmlformats.org/officeDocument/2006/relationships/image" Target="../media/image20.png"/><Relationship Id="rId27" Type="http://schemas.openxmlformats.org/officeDocument/2006/relationships/tags" Target="../tags/tag62.xml"/><Relationship Id="rId26" Type="http://schemas.openxmlformats.org/officeDocument/2006/relationships/tags" Target="../tags/tag61.xml"/><Relationship Id="rId25" Type="http://schemas.openxmlformats.org/officeDocument/2006/relationships/tags" Target="../tags/tag60.xml"/><Relationship Id="rId24" Type="http://schemas.openxmlformats.org/officeDocument/2006/relationships/tags" Target="../tags/tag59.xml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image" Target="../media/image19.svg"/><Relationship Id="rId20" Type="http://schemas.openxmlformats.org/officeDocument/2006/relationships/image" Target="../media/image18.png"/><Relationship Id="rId2" Type="http://schemas.openxmlformats.org/officeDocument/2006/relationships/tags" Target="../tags/tag43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image" Target="../media/image17.svg"/><Relationship Id="rId13" Type="http://schemas.openxmlformats.org/officeDocument/2006/relationships/image" Target="../media/image16.png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image" Target="../media/image23.png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image" Target="../media/image22.png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78.xml"/><Relationship Id="rId16" Type="http://schemas.openxmlformats.org/officeDocument/2006/relationships/image" Target="../media/image25.png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image" Target="../media/image24.png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image" Target="../media/image26.png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5.xml"/><Relationship Id="rId21" Type="http://schemas.openxmlformats.org/officeDocument/2006/relationships/tags" Target="../tags/tag96.xml"/><Relationship Id="rId20" Type="http://schemas.openxmlformats.org/officeDocument/2006/relationships/tags" Target="../tags/tag95.xml"/><Relationship Id="rId2" Type="http://schemas.openxmlformats.org/officeDocument/2006/relationships/tags" Target="../tags/tag79.xml"/><Relationship Id="rId19" Type="http://schemas.openxmlformats.org/officeDocument/2006/relationships/tags" Target="../tags/tag94.xml"/><Relationship Id="rId18" Type="http://schemas.openxmlformats.org/officeDocument/2006/relationships/tags" Target="../tags/tag93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image" Target="../media/image27.png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7" Type="http://schemas.openxmlformats.org/officeDocument/2006/relationships/notesSlide" Target="../notesSlides/notesSlide7.xml"/><Relationship Id="rId26" Type="http://schemas.openxmlformats.org/officeDocument/2006/relationships/slideLayout" Target="../slideLayouts/slideLayout14.xml"/><Relationship Id="rId25" Type="http://schemas.openxmlformats.org/officeDocument/2006/relationships/tags" Target="../tags/tag114.xml"/><Relationship Id="rId24" Type="http://schemas.openxmlformats.org/officeDocument/2006/relationships/tags" Target="../tags/tag113.xml"/><Relationship Id="rId23" Type="http://schemas.openxmlformats.org/officeDocument/2006/relationships/tags" Target="../tags/tag112.xml"/><Relationship Id="rId22" Type="http://schemas.openxmlformats.org/officeDocument/2006/relationships/image" Target="../media/image33.svg"/><Relationship Id="rId21" Type="http://schemas.openxmlformats.org/officeDocument/2006/relationships/image" Target="../media/image32.png"/><Relationship Id="rId20" Type="http://schemas.openxmlformats.org/officeDocument/2006/relationships/tags" Target="../tags/tag111.xml"/><Relationship Id="rId2" Type="http://schemas.openxmlformats.org/officeDocument/2006/relationships/tags" Target="../tags/tag97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image" Target="../media/image31.svg"/><Relationship Id="rId13" Type="http://schemas.openxmlformats.org/officeDocument/2006/relationships/image" Target="../media/image30.png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image" Target="../media/image37.svg"/><Relationship Id="rId11" Type="http://schemas.openxmlformats.org/officeDocument/2006/relationships/image" Target="../media/image36.png"/><Relationship Id="rId10" Type="http://schemas.openxmlformats.org/officeDocument/2006/relationships/tags" Target="../tags/tag12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image" Target="../media/image38.svg"/><Relationship Id="rId5" Type="http://schemas.openxmlformats.org/officeDocument/2006/relationships/image" Target="../media/image14.png"/><Relationship Id="rId4" Type="http://schemas.openxmlformats.org/officeDocument/2006/relationships/tags" Target="../tags/tag127.xml"/><Relationship Id="rId39" Type="http://schemas.openxmlformats.org/officeDocument/2006/relationships/notesSlide" Target="../notesSlides/notesSlide9.xml"/><Relationship Id="rId38" Type="http://schemas.openxmlformats.org/officeDocument/2006/relationships/slideLayout" Target="../slideLayouts/slideLayout12.xml"/><Relationship Id="rId37" Type="http://schemas.openxmlformats.org/officeDocument/2006/relationships/tags" Target="../tags/tag148.xml"/><Relationship Id="rId36" Type="http://schemas.openxmlformats.org/officeDocument/2006/relationships/image" Target="../media/image48.svg"/><Relationship Id="rId35" Type="http://schemas.openxmlformats.org/officeDocument/2006/relationships/image" Target="../media/image47.png"/><Relationship Id="rId34" Type="http://schemas.openxmlformats.org/officeDocument/2006/relationships/tags" Target="../tags/tag147.xml"/><Relationship Id="rId33" Type="http://schemas.openxmlformats.org/officeDocument/2006/relationships/tags" Target="../tags/tag146.xml"/><Relationship Id="rId32" Type="http://schemas.openxmlformats.org/officeDocument/2006/relationships/tags" Target="../tags/tag145.xml"/><Relationship Id="rId31" Type="http://schemas.openxmlformats.org/officeDocument/2006/relationships/tags" Target="../tags/tag144.xml"/><Relationship Id="rId30" Type="http://schemas.openxmlformats.org/officeDocument/2006/relationships/image" Target="../media/image46.svg"/><Relationship Id="rId3" Type="http://schemas.openxmlformats.org/officeDocument/2006/relationships/tags" Target="../tags/tag126.xml"/><Relationship Id="rId29" Type="http://schemas.openxmlformats.org/officeDocument/2006/relationships/image" Target="../media/image45.png"/><Relationship Id="rId28" Type="http://schemas.openxmlformats.org/officeDocument/2006/relationships/tags" Target="../tags/tag143.xml"/><Relationship Id="rId27" Type="http://schemas.openxmlformats.org/officeDocument/2006/relationships/tags" Target="../tags/tag142.xml"/><Relationship Id="rId26" Type="http://schemas.openxmlformats.org/officeDocument/2006/relationships/tags" Target="../tags/tag141.xml"/><Relationship Id="rId25" Type="http://schemas.openxmlformats.org/officeDocument/2006/relationships/tags" Target="../tags/tag140.xml"/><Relationship Id="rId24" Type="http://schemas.openxmlformats.org/officeDocument/2006/relationships/image" Target="../media/image44.svg"/><Relationship Id="rId23" Type="http://schemas.openxmlformats.org/officeDocument/2006/relationships/image" Target="../media/image43.png"/><Relationship Id="rId22" Type="http://schemas.openxmlformats.org/officeDocument/2006/relationships/tags" Target="../tags/tag139.xml"/><Relationship Id="rId21" Type="http://schemas.openxmlformats.org/officeDocument/2006/relationships/tags" Target="../tags/tag138.xml"/><Relationship Id="rId20" Type="http://schemas.openxmlformats.org/officeDocument/2006/relationships/tags" Target="../tags/tag137.xml"/><Relationship Id="rId2" Type="http://schemas.openxmlformats.org/officeDocument/2006/relationships/tags" Target="../tags/tag125.xml"/><Relationship Id="rId19" Type="http://schemas.openxmlformats.org/officeDocument/2006/relationships/tags" Target="../tags/tag136.xml"/><Relationship Id="rId18" Type="http://schemas.openxmlformats.org/officeDocument/2006/relationships/image" Target="../media/image42.svg"/><Relationship Id="rId17" Type="http://schemas.openxmlformats.org/officeDocument/2006/relationships/image" Target="../media/image41.png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image" Target="../media/image40.svg"/><Relationship Id="rId11" Type="http://schemas.openxmlformats.org/officeDocument/2006/relationships/image" Target="../media/image39.png"/><Relationship Id="rId10" Type="http://schemas.openxmlformats.org/officeDocument/2006/relationships/tags" Target="../tags/tag13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9" Type="http://schemas.openxmlformats.org/officeDocument/2006/relationships/notesSlide" Target="../notesSlides/notesSlide10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160.xml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image" Target="../media/image52.svg"/><Relationship Id="rId13" Type="http://schemas.openxmlformats.org/officeDocument/2006/relationships/image" Target="../media/image51.png"/><Relationship Id="rId12" Type="http://schemas.openxmlformats.org/officeDocument/2006/relationships/tags" Target="../tags/tag15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6.jpeg"/><Relationship Id="rId4" Type="http://schemas.openxmlformats.org/officeDocument/2006/relationships/image" Target="../media/image55.jpeg"/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7" Type="http://schemas.openxmlformats.org/officeDocument/2006/relationships/notesSlide" Target="../notesSlides/notesSlide14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193.xml"/><Relationship Id="rId24" Type="http://schemas.openxmlformats.org/officeDocument/2006/relationships/tags" Target="../tags/tag192.xml"/><Relationship Id="rId23" Type="http://schemas.openxmlformats.org/officeDocument/2006/relationships/tags" Target="../tags/tag191.xml"/><Relationship Id="rId22" Type="http://schemas.openxmlformats.org/officeDocument/2006/relationships/image" Target="../media/image62.svg"/><Relationship Id="rId21" Type="http://schemas.openxmlformats.org/officeDocument/2006/relationships/image" Target="../media/image61.png"/><Relationship Id="rId20" Type="http://schemas.openxmlformats.org/officeDocument/2006/relationships/tags" Target="../tags/tag190.xml"/><Relationship Id="rId2" Type="http://schemas.openxmlformats.org/officeDocument/2006/relationships/tags" Target="../tags/tag176.xml"/><Relationship Id="rId19" Type="http://schemas.openxmlformats.org/officeDocument/2006/relationships/tags" Target="../tags/tag189.xml"/><Relationship Id="rId18" Type="http://schemas.openxmlformats.org/officeDocument/2006/relationships/tags" Target="../tags/tag188.xml"/><Relationship Id="rId17" Type="http://schemas.openxmlformats.org/officeDocument/2006/relationships/tags" Target="../tags/tag187.xml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image" Target="../media/image60.svg"/><Relationship Id="rId13" Type="http://schemas.openxmlformats.org/officeDocument/2006/relationships/image" Target="../media/image59.png"/><Relationship Id="rId12" Type="http://schemas.openxmlformats.org/officeDocument/2006/relationships/tags" Target="../tags/tag184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1750060"/>
            <a:ext cx="1117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 Black" panose="020B0200000000000000" charset="-122"/>
                <a:ea typeface="Noto Sans SC Black" panose="020B0200000000000000" charset="-122"/>
                <a:cs typeface="Noto Sans SC Black" panose="020B0200000000000000" charset="-122"/>
                <a:sym typeface="Noto Sans SC Black" panose="020B0200000000000000" charset="-122"/>
              </a:rPr>
              <a:t>星河俱乐部 · 生活S2B2C赋能平台</a:t>
            </a:r>
            <a:endParaRPr lang="en-US" sz="4800" b="1" i="0" u="none" strike="noStrike">
              <a:solidFill>
                <a:srgbClr val="FFFFFF"/>
              </a:solidFill>
              <a:latin typeface="Noto Sans SC Black" panose="020B0200000000000000" charset="-122"/>
              <a:ea typeface="Noto Sans SC Black" panose="020B0200000000000000" charset="-122"/>
              <a:cs typeface="Noto Sans SC Black" panose="020B0200000000000000" charset="-122"/>
              <a:sym typeface="Noto Sans SC Black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191000" y="3804920"/>
            <a:ext cx="3810000" cy="254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4826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D4AF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共享渠道· 零压创业</a:t>
            </a:r>
            <a:endParaRPr lang="en-US" sz="2800" b="0" i="0" u="none" strike="noStrike">
              <a:solidFill>
                <a:srgbClr val="D4AF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5588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让每个合作方，都成为生态的受益者</a:t>
            </a:r>
            <a:endParaRPr lang="en-US" sz="18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大环境不好</a:t>
            </a:r>
            <a:r>
              <a:rPr lang="en-US" altLang="zh-CN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你的生意还好吗</a:t>
            </a:r>
            <a:endParaRPr lang="zh-CN" alt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222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397000" y="2197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</a:t>
            </a: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渠道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>
            <p:custDataLst>
              <p:tags r:id="rId8"/>
            </p:custDataLst>
          </p:nvPr>
        </p:nvCxnSpPr>
        <p:spPr>
          <a:xfrm rot="-14566">
            <a:off x="952513" y="2724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952500" y="2857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、铺渠道成本高昂。</a:t>
            </a:r>
            <a:endParaRPr 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394200" y="2032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3942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84700" y="2222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5029200" y="2197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缺人才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>
            <p:custDataLst>
              <p:tags r:id="rId16"/>
            </p:custDataLst>
          </p:nvPr>
        </p:nvCxnSpPr>
        <p:spPr>
          <a:xfrm rot="-14566">
            <a:off x="4584713" y="2724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4584700" y="2857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行业专业技术与运营人才稀缺难招。</a:t>
            </a:r>
            <a:endParaRPr 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026400" y="2032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80264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16900" y="2222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8661400" y="2197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客流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>
            <p:custDataLst>
              <p:tags r:id="rId24"/>
            </p:custDataLst>
          </p:nvPr>
        </p:nvCxnSpPr>
        <p:spPr>
          <a:xfrm rot="-14566">
            <a:off x="8216913" y="2724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8216900" y="2857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线上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流量买不起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，转化效率低。</a:t>
            </a:r>
            <a:endParaRPr 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762000" y="4318000"/>
            <a:ext cx="5245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762000" y="4318000"/>
            <a:ext cx="5245100" cy="508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52500" y="4508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31"/>
            </p:custDataLst>
          </p:nvPr>
        </p:nvSpPr>
        <p:spPr>
          <a:xfrm>
            <a:off x="1397000" y="44831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不赚钱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6" name="Connector 26"/>
          <p:cNvCxnSpPr/>
          <p:nvPr>
            <p:custDataLst>
              <p:tags r:id="rId32"/>
            </p:custDataLst>
          </p:nvPr>
        </p:nvCxnSpPr>
        <p:spPr>
          <a:xfrm rot="-8975">
            <a:off x="952508" y="5010150"/>
            <a:ext cx="486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>
            <p:custDataLst>
              <p:tags r:id="rId33"/>
            </p:custDataLst>
          </p:nvPr>
        </p:nvSpPr>
        <p:spPr>
          <a:xfrm>
            <a:off x="952500" y="5143500"/>
            <a:ext cx="4864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大环境不好，各行各业都在卷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34"/>
            </p:custDataLst>
          </p:nvPr>
        </p:nvSpPr>
        <p:spPr>
          <a:xfrm>
            <a:off x="6261100" y="4318000"/>
            <a:ext cx="5245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9" name="AutoShape 29"/>
          <p:cNvSpPr/>
          <p:nvPr>
            <p:custDataLst>
              <p:tags r:id="rId35"/>
            </p:custDataLst>
          </p:nvPr>
        </p:nvSpPr>
        <p:spPr>
          <a:xfrm>
            <a:off x="6261100" y="4318000"/>
            <a:ext cx="5245100" cy="508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30" name="Picture 30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451600" y="4508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>
            <p:custDataLst>
              <p:tags r:id="rId39"/>
            </p:custDataLst>
          </p:nvPr>
        </p:nvSpPr>
        <p:spPr>
          <a:xfrm>
            <a:off x="6896100" y="44831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资金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2" name="Connector 32"/>
          <p:cNvCxnSpPr/>
          <p:nvPr>
            <p:custDataLst>
              <p:tags r:id="rId40"/>
            </p:custDataLst>
          </p:nvPr>
        </p:nvCxnSpPr>
        <p:spPr>
          <a:xfrm rot="-8975">
            <a:off x="6451608" y="5010150"/>
            <a:ext cx="486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>
            <p:custDataLst>
              <p:tags r:id="rId41"/>
            </p:custDataLst>
          </p:nvPr>
        </p:nvSpPr>
        <p:spPr>
          <a:xfrm>
            <a:off x="6451600" y="5143500"/>
            <a:ext cx="4864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日常运营与市场拓展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太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烧钱。</a:t>
            </a:r>
            <a:endParaRPr 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5" grpId="0"/>
      <p:bldP spid="10" grpId="1" animBg="1"/>
      <p:bldP spid="11" grpId="1" animBg="1"/>
      <p:bldP spid="13" grpId="1"/>
      <p:bldP spid="15" grpId="1"/>
      <p:bldP spid="16" grpId="0" animBg="1"/>
      <p:bldP spid="17" grpId="0" animBg="1"/>
      <p:bldP spid="19" grpId="0"/>
      <p:bldP spid="21" grpId="0"/>
      <p:bldP spid="16" grpId="1" animBg="1"/>
      <p:bldP spid="17" grpId="1" animBg="1"/>
      <p:bldP spid="19" grpId="1"/>
      <p:bldP spid="21" grpId="1"/>
      <p:bldP spid="22" grpId="0" animBg="1"/>
      <p:bldP spid="23" grpId="0" animBg="1"/>
      <p:bldP spid="25" grpId="0"/>
      <p:bldP spid="27" grpId="0"/>
      <p:bldP spid="22" grpId="1" animBg="1"/>
      <p:bldP spid="23" grpId="1" animBg="1"/>
      <p:bldP spid="25" grpId="1"/>
      <p:bldP spid="27" grpId="1"/>
      <p:bldP spid="28" grpId="0" animBg="1"/>
      <p:bldP spid="29" grpId="0" animBg="1"/>
      <p:bldP spid="31" grpId="0"/>
      <p:bldP spid="33" grpId="0"/>
      <p:bldP spid="28" grpId="1" animBg="1"/>
      <p:bldP spid="29" grpId="1" animBg="1"/>
      <p:bldP spid="31" grpId="1"/>
      <p:bldP spid="3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我们有什么</a:t>
            </a:r>
            <a:endParaRPr lang="zh-CN" alt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66115" y="1468755"/>
            <a:ext cx="3524885" cy="1654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5000"/>
              </a:lnSpc>
              <a:defRPr/>
            </a:pPr>
            <a:r>
              <a:rPr lang="en-US" altLang="zh-CN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</a:t>
            </a:r>
            <a:r>
              <a:rPr lang="zh-CN" alt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洗刷刷科技，</a:t>
            </a:r>
            <a:r>
              <a:rPr 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十二年深耕</a:t>
            </a:r>
            <a:r>
              <a:rPr lang="zh-CN" alt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自助</a:t>
            </a:r>
            <a:r>
              <a:rPr 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洗车领域，</a:t>
            </a:r>
            <a:r>
              <a:rPr lang="zh-CN" alt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铸就行业头部品牌，今年</a:t>
            </a:r>
            <a:r>
              <a:rPr lang="zh-CN" alt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已经启动三年上市财报规划。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177">
            <a:off x="2603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5207000" y="1905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B8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5207000" y="1905000"/>
            <a:ext cx="76200" cy="17145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5461000" y="21971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B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4000+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稳定渠道合作商</a:t>
            </a:r>
            <a:endParaRPr 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8509000" y="1905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B8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8509000" y="1905000"/>
            <a:ext cx="76200" cy="17145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8763000" y="21971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B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12000+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线下服务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</a:t>
            </a:r>
            <a:endParaRPr lang="zh-CN" alt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5207000" y="4064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B8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5207000" y="4064000"/>
            <a:ext cx="76200" cy="17145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5461000" y="43561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B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3400万+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高粘性车主会员</a:t>
            </a:r>
            <a:endParaRPr 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509000" y="4064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B8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2"/>
            </p:custDataLst>
          </p:nvPr>
        </p:nvSpPr>
        <p:spPr>
          <a:xfrm>
            <a:off x="8509000" y="4064000"/>
            <a:ext cx="76200" cy="17145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3"/>
            </p:custDataLst>
          </p:nvPr>
        </p:nvSpPr>
        <p:spPr>
          <a:xfrm>
            <a:off x="8763000" y="43561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B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20亿+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平台年流水</a:t>
            </a:r>
            <a:endParaRPr 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rcRect l="6593" r="6593"/>
          <a:stretch>
            <a:fillRect/>
          </a:stretch>
        </p:blipFill>
        <p:spPr>
          <a:xfrm>
            <a:off x="541020" y="3122930"/>
            <a:ext cx="3849370" cy="2858770"/>
          </a:xfrm>
          <a:prstGeom prst="rect">
            <a:avLst/>
          </a:prstGeom>
          <a:noFill/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7" grpId="1" animBg="1"/>
      <p:bldP spid="8" grpId="1" animBg="1"/>
      <p:bldP spid="9" grpId="1"/>
      <p:bldP spid="10" grpId="0" animBg="1"/>
      <p:bldP spid="11" grpId="0" animBg="1"/>
      <p:bldP spid="12" grpId="0"/>
      <p:bldP spid="10" grpId="1" animBg="1"/>
      <p:bldP spid="11" grpId="1" animBg="1"/>
      <p:bldP spid="12" grpId="1"/>
      <p:bldP spid="13" grpId="0" animBg="1"/>
      <p:bldP spid="14" grpId="0" animBg="1"/>
      <p:bldP spid="15" grpId="0"/>
      <p:bldP spid="13" grpId="1" animBg="1"/>
      <p:bldP spid="14" grpId="1" animBg="1"/>
      <p:bldP spid="15" grpId="1"/>
      <p:bldP spid="16" grpId="0" animBg="1"/>
      <p:bldP spid="17" grpId="0" animBg="1"/>
      <p:bldP spid="18" grpId="0"/>
      <p:bldP spid="16" grpId="1" animBg="1"/>
      <p:bldP spid="17" grpId="1" animBg="1"/>
      <p:bldP spid="1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的战略合作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伙伴</a:t>
            </a:r>
            <a:endParaRPr lang="zh-CN" alt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7" name="AutoShape 5"/>
          <p:cNvSpPr/>
          <p:nvPr>
            <p:custDataLst>
              <p:tags r:id="rId3"/>
            </p:custDataLst>
          </p:nvPr>
        </p:nvSpPr>
        <p:spPr>
          <a:xfrm>
            <a:off x="762000" y="1905000"/>
            <a:ext cx="76200" cy="19685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28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2095500"/>
            <a:ext cx="355600" cy="355600"/>
          </a:xfrm>
          <a:prstGeom prst="rect">
            <a:avLst/>
          </a:prstGeom>
        </p:spPr>
      </p:pic>
      <p:sp>
        <p:nvSpPr>
          <p:cNvPr id="29" name="AutoShape 7"/>
          <p:cNvSpPr/>
          <p:nvPr>
            <p:custDataLst>
              <p:tags r:id="rId7"/>
            </p:custDataLst>
          </p:nvPr>
        </p:nvSpPr>
        <p:spPr>
          <a:xfrm>
            <a:off x="15875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ln>
                  <a:noFill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汽车服务领域</a:t>
            </a:r>
            <a:endParaRPr lang="en-US" sz="1800" b="1" i="0" u="none" strike="noStrike">
              <a:ln>
                <a:noFill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0" name="Connector 8"/>
          <p:cNvCxnSpPr/>
          <p:nvPr>
            <p:custDataLst>
              <p:tags r:id="rId8"/>
            </p:custDataLst>
          </p:nvPr>
        </p:nvCxnSpPr>
        <p:spPr>
          <a:xfrm rot="-9291">
            <a:off x="10795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C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9"/>
          <p:cNvSpPr/>
          <p:nvPr>
            <p:custDataLst>
              <p:tags r:id="rId9"/>
            </p:custDataLst>
          </p:nvPr>
        </p:nvSpPr>
        <p:spPr>
          <a:xfrm>
            <a:off x="1079500" y="285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途虎养车、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瓜子二手车、滴滴出行等行业领军企业达成战略合作。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10"/>
          <p:cNvSpPr/>
          <p:nvPr>
            <p:custDataLst>
              <p:tags r:id="rId10"/>
            </p:custDataLst>
          </p:nvPr>
        </p:nvSpPr>
        <p:spPr>
          <a:xfrm>
            <a:off x="64135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3" name="AutoShape 11"/>
          <p:cNvSpPr/>
          <p:nvPr>
            <p:custDataLst>
              <p:tags r:id="rId11"/>
            </p:custDataLst>
          </p:nvPr>
        </p:nvSpPr>
        <p:spPr>
          <a:xfrm>
            <a:off x="6413500" y="1905000"/>
            <a:ext cx="76200" cy="19685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34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31000" y="2095500"/>
            <a:ext cx="355600" cy="355600"/>
          </a:xfrm>
          <a:prstGeom prst="rect">
            <a:avLst/>
          </a:prstGeom>
        </p:spPr>
      </p:pic>
      <p:cxnSp>
        <p:nvCxnSpPr>
          <p:cNvPr id="36" name="Connector 14"/>
          <p:cNvCxnSpPr/>
          <p:nvPr>
            <p:custDataLst>
              <p:tags r:id="rId15"/>
            </p:custDataLst>
          </p:nvPr>
        </p:nvCxnSpPr>
        <p:spPr>
          <a:xfrm rot="-9291">
            <a:off x="6731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C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15"/>
          <p:cNvSpPr/>
          <p:nvPr>
            <p:custDataLst>
              <p:tags r:id="rId16"/>
            </p:custDataLst>
          </p:nvPr>
        </p:nvSpPr>
        <p:spPr>
          <a:xfrm>
            <a:off x="6731000" y="285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携手比亚迪、蔚来、小鹏等头部新能源品牌，布局智能出行服务体系，抢占新能源汽车市场发展先机。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16"/>
          <p:cNvSpPr/>
          <p:nvPr>
            <p:custDataLst>
              <p:tags r:id="rId17"/>
            </p:custDataLst>
          </p:nvPr>
        </p:nvSpPr>
        <p:spPr>
          <a:xfrm>
            <a:off x="7620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9" name="AutoShape 17"/>
          <p:cNvSpPr/>
          <p:nvPr>
            <p:custDataLst>
              <p:tags r:id="rId18"/>
            </p:custDataLst>
          </p:nvPr>
        </p:nvSpPr>
        <p:spPr>
          <a:xfrm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40" name="Picture 1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9500" y="4381500"/>
            <a:ext cx="355600" cy="355600"/>
          </a:xfrm>
          <a:prstGeom prst="rect">
            <a:avLst/>
          </a:prstGeom>
        </p:spPr>
      </p:pic>
      <p:sp>
        <p:nvSpPr>
          <p:cNvPr id="41" name="AutoShape 19"/>
          <p:cNvSpPr/>
          <p:nvPr>
            <p:custDataLst>
              <p:tags r:id="rId22"/>
            </p:custDataLst>
          </p:nvPr>
        </p:nvSpPr>
        <p:spPr>
          <a:xfrm>
            <a:off x="1587500" y="434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本地推</a:t>
            </a: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流量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2" name="Connector 20"/>
          <p:cNvCxnSpPr/>
          <p:nvPr>
            <p:custDataLst>
              <p:tags r:id="rId23"/>
            </p:custDataLst>
          </p:nvPr>
        </p:nvCxnSpPr>
        <p:spPr>
          <a:xfrm rot="-9291">
            <a:off x="10795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21"/>
          <p:cNvSpPr/>
          <p:nvPr>
            <p:custDataLst>
              <p:tags r:id="rId24"/>
            </p:custDataLst>
          </p:nvPr>
        </p:nvSpPr>
        <p:spPr>
          <a:xfrm>
            <a:off x="1079500" y="5143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深度链接抖音、美团等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本地推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流量平台，依托短视频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直播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与本地生活服务场景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线上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线下一体化营销矩阵。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AutoShape 22"/>
          <p:cNvSpPr/>
          <p:nvPr>
            <p:custDataLst>
              <p:tags r:id="rId25"/>
            </p:custDataLst>
          </p:nvPr>
        </p:nvSpPr>
        <p:spPr>
          <a:xfrm>
            <a:off x="64135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5" name="AutoShape 23"/>
          <p:cNvSpPr/>
          <p:nvPr>
            <p:custDataLst>
              <p:tags r:id="rId26"/>
            </p:custDataLst>
          </p:nvPr>
        </p:nvSpPr>
        <p:spPr>
          <a:xfrm>
            <a:off x="6413500" y="4191000"/>
            <a:ext cx="76200" cy="19685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46" name="Picture 2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731000" y="4381500"/>
            <a:ext cx="355600" cy="355600"/>
          </a:xfrm>
          <a:prstGeom prst="rect">
            <a:avLst/>
          </a:prstGeom>
        </p:spPr>
      </p:pic>
      <p:sp>
        <p:nvSpPr>
          <p:cNvPr id="47" name="AutoShape 25"/>
          <p:cNvSpPr/>
          <p:nvPr>
            <p:custDataLst>
              <p:tags r:id="rId30"/>
            </p:custDataLst>
          </p:nvPr>
        </p:nvSpPr>
        <p:spPr>
          <a:xfrm>
            <a:off x="7239000" y="434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金融与通信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8" name="Connector 26"/>
          <p:cNvCxnSpPr/>
          <p:nvPr>
            <p:custDataLst>
              <p:tags r:id="rId31"/>
            </p:custDataLst>
          </p:nvPr>
        </p:nvCxnSpPr>
        <p:spPr>
          <a:xfrm rot="-9291">
            <a:off x="6731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AutoShape 27"/>
          <p:cNvSpPr/>
          <p:nvPr>
            <p:custDataLst>
              <p:tags r:id="rId32"/>
            </p:custDataLst>
          </p:nvPr>
        </p:nvSpPr>
        <p:spPr>
          <a:xfrm>
            <a:off x="6731000" y="5143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联合中国移动、支付宝及各大商业银行，为业务拓展提供稳定的金融支持与数字化基础设施。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1" name="AutoShape 25"/>
          <p:cNvSpPr/>
          <p:nvPr>
            <p:custDataLst>
              <p:tags r:id="rId33"/>
            </p:custDataLst>
          </p:nvPr>
        </p:nvSpPr>
        <p:spPr>
          <a:xfrm>
            <a:off x="72390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>
                <a:ln>
                  <a:noFill/>
                </a:ln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新能源汽车</a:t>
            </a:r>
            <a:endParaRPr lang="en-US" sz="1800" b="1" i="0" u="none" strike="noStrike">
              <a:ln>
                <a:noFill/>
              </a:ln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2" name="AutoShape 5"/>
          <p:cNvSpPr/>
          <p:nvPr/>
        </p:nvSpPr>
        <p:spPr>
          <a:xfrm>
            <a:off x="915670" y="13716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B8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7" grpId="0"/>
      <p:bldP spid="51" grpId="0"/>
      <p:bldP spid="32" grpId="1" animBg="1"/>
      <p:bldP spid="33" grpId="1" animBg="1"/>
      <p:bldP spid="37" grpId="1"/>
      <p:bldP spid="51" grpId="1"/>
      <p:bldP spid="38" grpId="0" animBg="1"/>
      <p:bldP spid="39" grpId="0" animBg="1"/>
      <p:bldP spid="41" grpId="0"/>
      <p:bldP spid="43" grpId="0"/>
      <p:bldP spid="38" grpId="1" animBg="1"/>
      <p:bldP spid="39" grpId="1" animBg="1"/>
      <p:bldP spid="41" grpId="1"/>
      <p:bldP spid="43" grpId="1"/>
      <p:bldP spid="44" grpId="0" animBg="1"/>
      <p:bldP spid="45" grpId="0" animBg="1"/>
      <p:bldP spid="47" grpId="0"/>
      <p:bldP spid="49" grpId="0"/>
      <p:bldP spid="44" grpId="1" animBg="1"/>
      <p:bldP spid="45" grpId="1" animBg="1"/>
      <p:bldP spid="47" grpId="1"/>
      <p:bldP spid="4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合作模式—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线下成功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</a:t>
            </a:r>
            <a:endParaRPr lang="zh-CN" alt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598170" y="132207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B8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9" name="AutoShape 6"/>
          <p:cNvSpPr/>
          <p:nvPr>
            <p:custDataLst>
              <p:tags r:id="rId2"/>
            </p:custDataLst>
          </p:nvPr>
        </p:nvSpPr>
        <p:spPr>
          <a:xfrm>
            <a:off x="762000" y="2794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20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1016000" y="29845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8"/>
          <p:cNvSpPr/>
          <p:nvPr>
            <p:custDataLst>
              <p:tags r:id="rId5"/>
            </p:custDataLst>
          </p:nvPr>
        </p:nvSpPr>
        <p:spPr>
          <a:xfrm>
            <a:off x="1778000" y="2921000"/>
            <a:ext cx="4000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优质酒源保障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品质保障：贵州48年老牌酒厂直供，品质有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保障。</a:t>
            </a:r>
            <a:endParaRPr lang="zh-CN" alt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9"/>
          <p:cNvSpPr/>
          <p:nvPr>
            <p:custDataLst>
              <p:tags r:id="rId6"/>
            </p:custDataLst>
          </p:nvPr>
        </p:nvSpPr>
        <p:spPr>
          <a:xfrm>
            <a:off x="6159500" y="2794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23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6413500" y="29845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11"/>
          <p:cNvSpPr/>
          <p:nvPr>
            <p:custDataLst>
              <p:tags r:id="rId9"/>
            </p:custDataLst>
          </p:nvPr>
        </p:nvSpPr>
        <p:spPr>
          <a:xfrm>
            <a:off x="7175500" y="2921000"/>
            <a:ext cx="418465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创新免费铺货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铺货：酒放在仓库是闲置，免费铺向全国网点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变现。</a:t>
            </a:r>
            <a:endParaRPr lang="zh-CN" alt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12"/>
          <p:cNvSpPr/>
          <p:nvPr>
            <p:custDataLst>
              <p:tags r:id="rId10"/>
            </p:custDataLst>
          </p:nvPr>
        </p:nvSpPr>
        <p:spPr>
          <a:xfrm>
            <a:off x="762000" y="4572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26" name="Picture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1016000" y="47625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14"/>
          <p:cNvSpPr/>
          <p:nvPr>
            <p:custDataLst>
              <p:tags r:id="rId13"/>
            </p:custDataLst>
          </p:nvPr>
        </p:nvSpPr>
        <p:spPr>
          <a:xfrm>
            <a:off x="1778000" y="4699000"/>
            <a:ext cx="4000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零风险退货结算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试错门槛</a:t>
            </a:r>
            <a:r>
              <a:rPr lang="zh-CN" altLang="en-US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：合作周期1年，喝不完/卖不完退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回，仅结算已消耗部分。</a:t>
            </a:r>
            <a:endParaRPr lang="zh-CN" alt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15"/>
          <p:cNvSpPr/>
          <p:nvPr>
            <p:custDataLst>
              <p:tags r:id="rId14"/>
            </p:custDataLst>
          </p:nvPr>
        </p:nvSpPr>
        <p:spPr>
          <a:xfrm>
            <a:off x="6159500" y="4572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29" name="Picture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6413500" y="47625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0" name="AutoShape 17"/>
          <p:cNvSpPr/>
          <p:nvPr>
            <p:custDataLst>
              <p:tags r:id="rId17"/>
            </p:custDataLst>
          </p:nvPr>
        </p:nvSpPr>
        <p:spPr>
          <a:xfrm>
            <a:off x="7175500" y="4699000"/>
            <a:ext cx="4090035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平台回款零坏账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从合作商洗车收益中抵扣，坏账率趋近于0，</a:t>
            </a:r>
            <a:r>
              <a:rPr lang="en-US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保障回款安全。</a:t>
            </a:r>
            <a:endParaRPr lang="en-US" alt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4"/>
          <p:cNvSpPr/>
          <p:nvPr/>
        </p:nvSpPr>
        <p:spPr>
          <a:xfrm>
            <a:off x="1016000" y="1903730"/>
            <a:ext cx="10668000" cy="537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网点展厅案例：</a:t>
            </a:r>
            <a:r>
              <a:rPr lang="en-US" sz="20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台典酒</a:t>
            </a:r>
            <a:r>
              <a:rPr lang="zh-CN" altLang="en-US" sz="20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，免费铺货，成交</a:t>
            </a:r>
            <a:r>
              <a:rPr lang="zh-CN" altLang="en-US" sz="20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分佣。</a:t>
            </a:r>
            <a:endParaRPr lang="zh-CN" altLang="en-US" sz="20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  <p:bldP spid="22" grpId="1" animBg="1"/>
      <p:bldP spid="24" grpId="1"/>
      <p:bldP spid="25" grpId="0" animBg="1"/>
      <p:bldP spid="27" grpId="0"/>
      <p:bldP spid="25" grpId="1" animBg="1"/>
      <p:bldP spid="27" grpId="1"/>
      <p:bldP spid="28" grpId="0" animBg="1"/>
      <p:bldP spid="30" grpId="0"/>
      <p:bldP spid="28" grpId="1" animBg="1"/>
      <p:bldP spid="3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9944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合作模式—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线下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自然流量变现</a:t>
            </a:r>
            <a:endParaRPr lang="zh-CN" alt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307465"/>
            <a:ext cx="10668000" cy="25400"/>
          </a:xfrm>
          <a:prstGeom prst="roundRect">
            <a:avLst>
              <a:gd name="adj" fmla="val 0"/>
            </a:avLst>
          </a:prstGeom>
          <a:solidFill>
            <a:srgbClr val="FFB8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8" name="AutoShape 6"/>
          <p:cNvSpPr/>
          <p:nvPr>
            <p:custDataLst>
              <p:tags r:id="rId2"/>
            </p:custDataLst>
          </p:nvPr>
        </p:nvSpPr>
        <p:spPr>
          <a:xfrm>
            <a:off x="944880" y="3540760"/>
            <a:ext cx="10134600" cy="124968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9" name="AutoShape 7"/>
          <p:cNvSpPr/>
          <p:nvPr>
            <p:custDataLst>
              <p:tags r:id="rId3"/>
            </p:custDataLst>
          </p:nvPr>
        </p:nvSpPr>
        <p:spPr>
          <a:xfrm>
            <a:off x="944880" y="3540760"/>
            <a:ext cx="76200" cy="124968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20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1198880" y="373126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9"/>
          <p:cNvSpPr/>
          <p:nvPr>
            <p:custDataLst>
              <p:tags r:id="rId6"/>
            </p:custDataLst>
          </p:nvPr>
        </p:nvSpPr>
        <p:spPr>
          <a:xfrm>
            <a:off x="1770380" y="3693160"/>
            <a:ext cx="2476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积分激活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会员</a:t>
            </a: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体系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Connector 10"/>
          <p:cNvCxnSpPr/>
          <p:nvPr>
            <p:custDataLst>
              <p:tags r:id="rId7"/>
            </p:custDataLst>
          </p:nvPr>
        </p:nvCxnSpPr>
        <p:spPr>
          <a:xfrm>
            <a:off x="1198894" y="4283710"/>
            <a:ext cx="8632190" cy="7556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11"/>
          <p:cNvSpPr/>
          <p:nvPr>
            <p:custDataLst>
              <p:tags r:id="rId8"/>
            </p:custDataLst>
          </p:nvPr>
        </p:nvSpPr>
        <p:spPr>
          <a:xfrm>
            <a:off x="1198880" y="4292600"/>
            <a:ext cx="8632825" cy="486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积分引流：举例：买矿泉水，扫码支付就赠送积分，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成为会员，</a:t>
            </a:r>
            <a:r>
              <a:rPr lang="zh-CN" altLang="en-US" sz="16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有积分可以增强</a:t>
            </a:r>
            <a:r>
              <a:rPr lang="zh-CN" altLang="en-US" sz="16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会员粘性</a:t>
            </a:r>
            <a:r>
              <a:rPr lang="en-US" sz="16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18"/>
          <p:cNvSpPr/>
          <p:nvPr>
            <p:custDataLst>
              <p:tags r:id="rId9"/>
            </p:custDataLst>
          </p:nvPr>
        </p:nvSpPr>
        <p:spPr>
          <a:xfrm>
            <a:off x="944880" y="2159000"/>
            <a:ext cx="10134600" cy="124968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1" name="AutoShape 19"/>
          <p:cNvSpPr/>
          <p:nvPr>
            <p:custDataLst>
              <p:tags r:id="rId10"/>
            </p:custDataLst>
          </p:nvPr>
        </p:nvSpPr>
        <p:spPr>
          <a:xfrm>
            <a:off x="944880" y="2159000"/>
            <a:ext cx="76200" cy="124968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32" name="Picture 2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1198880" y="2349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3" name="AutoShape 21"/>
          <p:cNvSpPr/>
          <p:nvPr>
            <p:custDataLst>
              <p:tags r:id="rId13"/>
            </p:custDataLst>
          </p:nvPr>
        </p:nvSpPr>
        <p:spPr>
          <a:xfrm>
            <a:off x="1770380" y="2311400"/>
            <a:ext cx="731901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无人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售货柜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4" name="Connector 22"/>
          <p:cNvCxnSpPr/>
          <p:nvPr>
            <p:custDataLst>
              <p:tags r:id="rId14"/>
            </p:custDataLst>
          </p:nvPr>
        </p:nvCxnSpPr>
        <p:spPr>
          <a:xfrm>
            <a:off x="1198894" y="2901950"/>
            <a:ext cx="8632190" cy="7556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" name="AutoShape 23"/>
          <p:cNvSpPr/>
          <p:nvPr>
            <p:custDataLst>
              <p:tags r:id="rId15"/>
            </p:custDataLst>
          </p:nvPr>
        </p:nvSpPr>
        <p:spPr>
          <a:xfrm>
            <a:off x="1198880" y="2910840"/>
            <a:ext cx="9399905" cy="486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占地0.5㎡，卖饮用水+车用小件等</a:t>
            </a:r>
            <a:r>
              <a:rPr lang="zh-CN" altLang="en-US" sz="16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货品，无需人工，毛利率超高</a:t>
            </a:r>
            <a:r>
              <a:rPr 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，成为新的盈利增长点。</a:t>
            </a:r>
            <a:endParaRPr lang="en-US" altLang="en-US" sz="16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6"/>
          <p:cNvSpPr/>
          <p:nvPr>
            <p:custDataLst>
              <p:tags r:id="rId16"/>
            </p:custDataLst>
          </p:nvPr>
        </p:nvSpPr>
        <p:spPr>
          <a:xfrm>
            <a:off x="944880" y="4922520"/>
            <a:ext cx="10134600" cy="124968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6" name="AutoShape 7"/>
          <p:cNvSpPr/>
          <p:nvPr>
            <p:custDataLst>
              <p:tags r:id="rId17"/>
            </p:custDataLst>
          </p:nvPr>
        </p:nvSpPr>
        <p:spPr>
          <a:xfrm>
            <a:off x="944880" y="4922520"/>
            <a:ext cx="76200" cy="124968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7" name="Picture 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1198880" y="511302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9"/>
          <p:cNvSpPr/>
          <p:nvPr>
            <p:custDataLst>
              <p:tags r:id="rId19"/>
            </p:custDataLst>
          </p:nvPr>
        </p:nvSpPr>
        <p:spPr>
          <a:xfrm>
            <a:off x="1770380" y="5074920"/>
            <a:ext cx="2476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网点滚屏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曝光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10"/>
          <p:cNvCxnSpPr/>
          <p:nvPr>
            <p:custDataLst>
              <p:tags r:id="rId20"/>
            </p:custDataLst>
          </p:nvPr>
        </p:nvCxnSpPr>
        <p:spPr>
          <a:xfrm>
            <a:off x="1198894" y="5665470"/>
            <a:ext cx="8632190" cy="7556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1"/>
          <p:cNvSpPr/>
          <p:nvPr>
            <p:custDataLst>
              <p:tags r:id="rId21"/>
            </p:custDataLst>
          </p:nvPr>
        </p:nvSpPr>
        <p:spPr>
          <a:xfrm>
            <a:off x="1198880" y="5674360"/>
            <a:ext cx="8632825" cy="486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>
                <a:solidFill>
                  <a:schemeClr val="tx1">
                    <a:alpha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客户停留场景，自然流量无需主动引流，循环播放广告，不断扩大品牌名气。</a:t>
            </a:r>
            <a:endParaRPr lang="zh-CN" altLang="en-US" sz="1600">
              <a:solidFill>
                <a:schemeClr val="tx1">
                  <a:alpha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  <p:bldP spid="31" grpId="0" bldLvl="0" animBg="1"/>
      <p:bldP spid="33" grpId="0"/>
      <p:bldP spid="35" grpId="0"/>
      <p:bldP spid="30" grpId="1" animBg="1"/>
      <p:bldP spid="31" grpId="1" animBg="1"/>
      <p:bldP spid="33" grpId="1"/>
      <p:bldP spid="3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合作模式—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线上会员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变现</a:t>
            </a:r>
            <a:endParaRPr lang="zh-CN" alt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62000" y="361696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23A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762000" y="3616960"/>
            <a:ext cx="3429000" cy="50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solidFill>
              <a:schemeClr val="accent4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93446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651000" y="393446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入驻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商城</a:t>
            </a: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零门槛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>
            <p:custDataLst>
              <p:tags r:id="rId8"/>
            </p:custDataLst>
          </p:nvPr>
        </p:nvCxnSpPr>
        <p:spPr>
          <a:xfrm rot="-14946">
            <a:off x="1016014" y="462661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016000" y="482346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无需自建系统，成熟小程序/</a:t>
            </a:r>
            <a:r>
              <a:rPr lang="en-US" altLang="zh-CN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使用。</a:t>
            </a:r>
            <a:endParaRPr lang="zh-CN" alt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4384040" y="361696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23A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4384040" y="3616960"/>
            <a:ext cx="3429000" cy="50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solidFill>
              <a:schemeClr val="accent4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38040" y="393446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5273040" y="393446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精准触达 · 广覆盖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>
            <p:custDataLst>
              <p:tags r:id="rId16"/>
            </p:custDataLst>
          </p:nvPr>
        </p:nvCxnSpPr>
        <p:spPr>
          <a:xfrm rot="-14946">
            <a:off x="4638054" y="462661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AutoShape 18"/>
          <p:cNvSpPr/>
          <p:nvPr>
            <p:custDataLst>
              <p:tags r:id="rId17"/>
            </p:custDataLst>
          </p:nvPr>
        </p:nvSpPr>
        <p:spPr>
          <a:xfrm>
            <a:off x="4638040" y="482346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首页推荐+消息推送+积分兑换，锁定会员复购。</a:t>
            </a:r>
            <a:endParaRPr lang="zh-CN" alt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19"/>
          <p:cNvSpPr/>
          <p:nvPr>
            <p:custDataLst>
              <p:tags r:id="rId18"/>
            </p:custDataLst>
          </p:nvPr>
        </p:nvSpPr>
        <p:spPr>
          <a:xfrm>
            <a:off x="8001000" y="361696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23A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3" name="AutoShape 20"/>
          <p:cNvSpPr/>
          <p:nvPr>
            <p:custDataLst>
              <p:tags r:id="rId19"/>
            </p:custDataLst>
          </p:nvPr>
        </p:nvSpPr>
        <p:spPr>
          <a:xfrm>
            <a:off x="8001000" y="3616960"/>
            <a:ext cx="3429000" cy="50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solidFill>
              <a:schemeClr val="accent4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34" name="Picture 21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55000" y="3934460"/>
            <a:ext cx="457200" cy="457200"/>
          </a:xfrm>
          <a:prstGeom prst="rect">
            <a:avLst/>
          </a:prstGeom>
        </p:spPr>
      </p:pic>
      <p:sp>
        <p:nvSpPr>
          <p:cNvPr id="35" name="AutoShape 22"/>
          <p:cNvSpPr/>
          <p:nvPr>
            <p:custDataLst>
              <p:tags r:id="rId23"/>
            </p:custDataLst>
          </p:nvPr>
        </p:nvSpPr>
        <p:spPr>
          <a:xfrm>
            <a:off x="8890000" y="393446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高效成交 · 体验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6" name="Connector 23"/>
          <p:cNvCxnSpPr/>
          <p:nvPr>
            <p:custDataLst>
              <p:tags r:id="rId24"/>
            </p:custDataLst>
          </p:nvPr>
        </p:nvCxnSpPr>
        <p:spPr>
          <a:xfrm rot="-14946">
            <a:off x="8255014" y="462661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7" name="AutoShape 24"/>
          <p:cNvSpPr/>
          <p:nvPr>
            <p:custDataLst>
              <p:tags r:id="rId25"/>
            </p:custDataLst>
          </p:nvPr>
        </p:nvSpPr>
        <p:spPr>
          <a:xfrm>
            <a:off x="8255000" y="482346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全流程线上下单，有效提升下单转化率与复购率。</a:t>
            </a:r>
            <a:endParaRPr lang="zh-CN" alt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62000" y="2293620"/>
            <a:ext cx="10414635" cy="563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>
              <a:lnSpc>
                <a:spcPct val="128000"/>
              </a:lnSpc>
            </a:pPr>
            <a:r>
              <a:rPr lang="zh-CN" altLang="en-US" sz="24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线上助力企业快速融入消费</a:t>
            </a:r>
            <a:r>
              <a:rPr lang="zh-CN" altLang="en-US" sz="24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市场。</a:t>
            </a:r>
            <a:endParaRPr lang="zh-CN" altLang="en-US" sz="24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5"/>
          <p:cNvSpPr/>
          <p:nvPr/>
        </p:nvSpPr>
        <p:spPr>
          <a:xfrm>
            <a:off x="635635" y="150876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B8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  <p:bldP spid="16" grpId="0"/>
      <p:bldP spid="6" grpId="0"/>
      <p:bldP spid="13" grpId="1" animBg="1"/>
      <p:bldP spid="14" grpId="1" animBg="1"/>
      <p:bldP spid="16" grpId="1"/>
      <p:bldP spid="6" grpId="1"/>
      <p:bldP spid="32" grpId="0" animBg="1"/>
      <p:bldP spid="33" grpId="0" animBg="1"/>
      <p:bldP spid="35" grpId="0"/>
      <p:bldP spid="37" grpId="0"/>
      <p:bldP spid="32" grpId="1" animBg="1"/>
      <p:bldP spid="33" grpId="1" animBg="1"/>
      <p:bldP spid="35" grpId="1"/>
      <p:bldP spid="3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9944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合作模式—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线上</a:t>
            </a:r>
            <a:r>
              <a:rPr lang="zh-CN" altLang="en-US" sz="3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成功案例</a:t>
            </a:r>
            <a:endParaRPr lang="zh-CN" alt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307465"/>
            <a:ext cx="10668000" cy="25400"/>
          </a:xfrm>
          <a:prstGeom prst="roundRect">
            <a:avLst>
              <a:gd name="adj" fmla="val 0"/>
            </a:avLst>
          </a:prstGeom>
          <a:solidFill>
            <a:srgbClr val="FFB8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" name="AutoShape 6"/>
          <p:cNvSpPr/>
          <p:nvPr>
            <p:custDataLst>
              <p:tags r:id="rId2"/>
            </p:custDataLst>
          </p:nvPr>
        </p:nvSpPr>
        <p:spPr>
          <a:xfrm>
            <a:off x="6551295" y="3775075"/>
            <a:ext cx="3632200" cy="193865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5295" y="4161155"/>
            <a:ext cx="609600" cy="609600"/>
          </a:xfrm>
          <a:prstGeom prst="rect">
            <a:avLst/>
          </a:prstGeom>
        </p:spPr>
      </p:pic>
      <p:sp>
        <p:nvSpPr>
          <p:cNvPr id="9" name="AutoShape 8"/>
          <p:cNvSpPr/>
          <p:nvPr>
            <p:custDataLst>
              <p:tags r:id="rId6"/>
            </p:custDataLst>
          </p:nvPr>
        </p:nvSpPr>
        <p:spPr>
          <a:xfrm>
            <a:off x="7567295" y="4211955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高转化</a:t>
            </a:r>
            <a:r>
              <a:rPr lang="zh-CN" alt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率</a:t>
            </a:r>
            <a:endParaRPr lang="zh-CN" altLang="en-US" sz="2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9"/>
          <p:cNvCxnSpPr/>
          <p:nvPr>
            <p:custDataLst>
              <p:tags r:id="rId7"/>
            </p:custDataLst>
          </p:nvPr>
        </p:nvCxnSpPr>
        <p:spPr>
          <a:xfrm rot="-13974">
            <a:off x="6805308" y="5043805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0"/>
          <p:cNvSpPr/>
          <p:nvPr>
            <p:custDataLst>
              <p:tags r:id="rId8"/>
            </p:custDataLst>
          </p:nvPr>
        </p:nvSpPr>
        <p:spPr>
          <a:xfrm>
            <a:off x="6805295" y="4770755"/>
            <a:ext cx="3124200" cy="803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小程序精准推送，投保转化</a:t>
            </a:r>
            <a:r>
              <a:rPr lang="en-US" altLang="zh-CN" sz="1400" b="0" i="0" u="none" strike="noStrike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</a:t>
            </a:r>
            <a:r>
              <a:rPr lang="zh-CN" altLang="en-US" sz="1400" b="0" i="0" u="none" strike="noStrike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endParaRPr lang="zh-CN" altLang="en-US" sz="1400" b="0" i="0" u="none" strike="noStrike">
              <a:solidFill>
                <a:schemeClr val="tx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1"/>
          <p:cNvSpPr/>
          <p:nvPr>
            <p:custDataLst>
              <p:tags r:id="rId9"/>
            </p:custDataLst>
          </p:nvPr>
        </p:nvSpPr>
        <p:spPr>
          <a:xfrm>
            <a:off x="2169160" y="3775075"/>
            <a:ext cx="3632200" cy="193865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23160" y="4161155"/>
            <a:ext cx="609600" cy="609600"/>
          </a:xfrm>
          <a:prstGeom prst="rect">
            <a:avLst/>
          </a:prstGeom>
        </p:spPr>
      </p:pic>
      <p:sp>
        <p:nvSpPr>
          <p:cNvPr id="14" name="AutoShape 13"/>
          <p:cNvSpPr/>
          <p:nvPr>
            <p:custDataLst>
              <p:tags r:id="rId13"/>
            </p:custDataLst>
          </p:nvPr>
        </p:nvSpPr>
        <p:spPr>
          <a:xfrm>
            <a:off x="3185160" y="4211955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100+</a:t>
            </a:r>
            <a:r>
              <a:rPr lang="zh-CN" alt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网点</a:t>
            </a:r>
            <a:r>
              <a:rPr lang="zh-CN" alt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</a:t>
            </a:r>
            <a:endParaRPr lang="zh-CN" altLang="en-US" sz="2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4"/>
          <p:cNvCxnSpPr/>
          <p:nvPr>
            <p:custDataLst>
              <p:tags r:id="rId14"/>
            </p:custDataLst>
          </p:nvPr>
        </p:nvCxnSpPr>
        <p:spPr>
          <a:xfrm rot="-13974">
            <a:off x="2423173" y="5043805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5"/>
          <p:cNvSpPr/>
          <p:nvPr>
            <p:custDataLst>
              <p:tags r:id="rId15"/>
            </p:custDataLst>
          </p:nvPr>
        </p:nvSpPr>
        <p:spPr>
          <a:xfrm>
            <a:off x="2423160" y="4770755"/>
            <a:ext cx="3124200" cy="803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每月卖出</a:t>
            </a:r>
            <a:r>
              <a:rPr lang="en-US" altLang="zh-CN" sz="1400" b="0" i="0" u="none" strike="noStrike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400" b="0" i="0" u="none" strike="noStrike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万单，每天</a:t>
            </a:r>
            <a:r>
              <a:rPr lang="en-US" altLang="zh-CN" sz="1400" b="0" i="0" u="none" strike="noStrike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300</a:t>
            </a:r>
            <a:r>
              <a:rPr lang="zh-CN" altLang="en-US" sz="1400" b="0" i="0" u="none" strike="noStrike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</a:t>
            </a:r>
            <a:r>
              <a:rPr lang="zh-CN" altLang="en-US" sz="1400" b="0" i="0" u="none" strike="noStrike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单。</a:t>
            </a:r>
            <a:endParaRPr lang="zh-CN" altLang="en-US" sz="1400" b="0" i="0" u="none" strike="noStrike">
              <a:solidFill>
                <a:schemeClr val="tx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2"/>
          <p:cNvSpPr/>
          <p:nvPr/>
        </p:nvSpPr>
        <p:spPr>
          <a:xfrm>
            <a:off x="1586230" y="2228215"/>
            <a:ext cx="5666740" cy="76771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chemeClr val="tx1">
                    <a:alpha val="94902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</a:t>
            </a:r>
            <a:r>
              <a:rPr lang="en-US" altLang="zh-CN" sz="1800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800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元轮胎险：客人扫码的时候，推送</a:t>
            </a:r>
            <a:r>
              <a:rPr lang="zh-CN" altLang="en-US" sz="1800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保险。</a:t>
            </a:r>
            <a:endParaRPr lang="zh-CN" altLang="en-US" sz="1800">
              <a:solidFill>
                <a:schemeClr val="tx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生态愿景—</a:t>
            </a:r>
            <a:r>
              <a:rPr lang="en-US" sz="3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全行业均可入驻合作</a:t>
            </a:r>
            <a:endParaRPr lang="en-US" alt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762000" y="1635760"/>
            <a:ext cx="10668000" cy="635000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762000" y="1635760"/>
            <a:ext cx="76200" cy="6350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solidFill>
              <a:schemeClr val="accent4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" name="AutoShape 5"/>
          <p:cNvSpPr/>
          <p:nvPr/>
        </p:nvSpPr>
        <p:spPr>
          <a:xfrm>
            <a:off x="1016000" y="173736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全方位生态赋能</a:t>
            </a:r>
            <a:r>
              <a:rPr 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3400</a:t>
            </a:r>
            <a:r>
              <a:rPr lang="zh-CN" alt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万车主流量</a:t>
            </a:r>
            <a:r>
              <a:rPr 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加持、12000+</a:t>
            </a:r>
            <a:r>
              <a:rPr lang="zh-CN" alt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网点</a:t>
            </a:r>
            <a:r>
              <a:rPr lang="zh-CN" alt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曝光，</a:t>
            </a:r>
            <a:r>
              <a:rPr lang="en-US" altLang="zh-CN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4000+</a:t>
            </a:r>
            <a:r>
              <a:rPr 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渠道</a:t>
            </a:r>
            <a:r>
              <a:rPr lang="zh-CN" alt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</a:t>
            </a:r>
            <a:r>
              <a:rPr 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共享。</a:t>
            </a:r>
            <a:endParaRPr lang="en-US" sz="18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6"/>
          <p:cNvSpPr/>
          <p:nvPr>
            <p:custDataLst>
              <p:tags r:id="rId2"/>
            </p:custDataLst>
          </p:nvPr>
        </p:nvSpPr>
        <p:spPr>
          <a:xfrm>
            <a:off x="762000" y="2936240"/>
            <a:ext cx="3378200" cy="1397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AutoShape 7"/>
          <p:cNvSpPr/>
          <p:nvPr>
            <p:custDataLst>
              <p:tags r:id="rId3"/>
            </p:custDataLst>
          </p:nvPr>
        </p:nvSpPr>
        <p:spPr>
          <a:xfrm>
            <a:off x="762000" y="2936240"/>
            <a:ext cx="3378200" cy="50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solidFill>
              <a:schemeClr val="accent4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1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190240"/>
            <a:ext cx="457200" cy="457200"/>
          </a:xfrm>
          <a:prstGeom prst="rect">
            <a:avLst/>
          </a:prstGeom>
        </p:spPr>
      </p:pic>
      <p:sp>
        <p:nvSpPr>
          <p:cNvPr id="12" name="AutoShape 9"/>
          <p:cNvSpPr/>
          <p:nvPr>
            <p:custDataLst>
              <p:tags r:id="rId7"/>
            </p:custDataLst>
          </p:nvPr>
        </p:nvSpPr>
        <p:spPr>
          <a:xfrm>
            <a:off x="1651000" y="316484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汽车用品服务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车载配件、养护用品、改装升级等全品类。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0"/>
          <p:cNvSpPr/>
          <p:nvPr>
            <p:custDataLst>
              <p:tags r:id="rId8"/>
            </p:custDataLst>
          </p:nvPr>
        </p:nvSpPr>
        <p:spPr>
          <a:xfrm>
            <a:off x="4406900" y="2936240"/>
            <a:ext cx="3378200" cy="1397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4" name="AutoShape 11"/>
          <p:cNvSpPr/>
          <p:nvPr>
            <p:custDataLst>
              <p:tags r:id="rId9"/>
            </p:custDataLst>
          </p:nvPr>
        </p:nvSpPr>
        <p:spPr>
          <a:xfrm>
            <a:off x="4406900" y="2936240"/>
            <a:ext cx="3378200" cy="50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solidFill>
              <a:schemeClr val="accent4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900" y="3190240"/>
            <a:ext cx="457200" cy="457200"/>
          </a:xfrm>
          <a:prstGeom prst="rect">
            <a:avLst/>
          </a:prstGeom>
        </p:spPr>
      </p:pic>
      <p:sp>
        <p:nvSpPr>
          <p:cNvPr id="16" name="AutoShape 13"/>
          <p:cNvSpPr/>
          <p:nvPr>
            <p:custDataLst>
              <p:tags r:id="rId13"/>
            </p:custDataLst>
          </p:nvPr>
        </p:nvSpPr>
        <p:spPr>
          <a:xfrm>
            <a:off x="5295900" y="316484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本地生活服务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洗车、保养、停车、代驾等高频场景。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4"/>
          <p:cNvSpPr/>
          <p:nvPr>
            <p:custDataLst>
              <p:tags r:id="rId14"/>
            </p:custDataLst>
          </p:nvPr>
        </p:nvSpPr>
        <p:spPr>
          <a:xfrm>
            <a:off x="8051800" y="2936240"/>
            <a:ext cx="3378200" cy="1397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8" name="AutoShape 15"/>
          <p:cNvSpPr/>
          <p:nvPr>
            <p:custDataLst>
              <p:tags r:id="rId15"/>
            </p:custDataLst>
          </p:nvPr>
        </p:nvSpPr>
        <p:spPr>
          <a:xfrm>
            <a:off x="8051800" y="2936240"/>
            <a:ext cx="3378200" cy="50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solidFill>
              <a:schemeClr val="accent4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9" name="Picture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05800" y="3190240"/>
            <a:ext cx="457200" cy="457200"/>
          </a:xfrm>
          <a:prstGeom prst="rect">
            <a:avLst/>
          </a:prstGeom>
        </p:spPr>
      </p:pic>
      <p:sp>
        <p:nvSpPr>
          <p:cNvPr id="20" name="AutoShape 17"/>
          <p:cNvSpPr/>
          <p:nvPr>
            <p:custDataLst>
              <p:tags r:id="rId19"/>
            </p:custDataLst>
          </p:nvPr>
        </p:nvSpPr>
        <p:spPr>
          <a:xfrm>
            <a:off x="8940800" y="316484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金融理财服务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提供车险、信贷、投资理财等专属金融方案。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18"/>
          <p:cNvSpPr/>
          <p:nvPr>
            <p:custDataLst>
              <p:tags r:id="rId20"/>
            </p:custDataLst>
          </p:nvPr>
        </p:nvSpPr>
        <p:spPr>
          <a:xfrm>
            <a:off x="762000" y="4668520"/>
            <a:ext cx="3378200" cy="1397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9" name="AutoShape 19"/>
          <p:cNvSpPr/>
          <p:nvPr>
            <p:custDataLst>
              <p:tags r:id="rId21"/>
            </p:custDataLst>
          </p:nvPr>
        </p:nvSpPr>
        <p:spPr>
          <a:xfrm>
            <a:off x="762000" y="4668520"/>
            <a:ext cx="3378200" cy="50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solidFill>
              <a:schemeClr val="accent4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30" name="Picture 2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16000" y="4922520"/>
            <a:ext cx="457200" cy="457200"/>
          </a:xfrm>
          <a:prstGeom prst="rect">
            <a:avLst/>
          </a:prstGeom>
        </p:spPr>
      </p:pic>
      <p:sp>
        <p:nvSpPr>
          <p:cNvPr id="31" name="AutoShape 21"/>
          <p:cNvSpPr/>
          <p:nvPr>
            <p:custDataLst>
              <p:tags r:id="rId25"/>
            </p:custDataLst>
          </p:nvPr>
        </p:nvSpPr>
        <p:spPr>
          <a:xfrm>
            <a:off x="1651000" y="489712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餐饮文旅服务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联动特色餐饮、自驾旅游、酒店民宿等资源。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22"/>
          <p:cNvSpPr/>
          <p:nvPr>
            <p:custDataLst>
              <p:tags r:id="rId26"/>
            </p:custDataLst>
          </p:nvPr>
        </p:nvSpPr>
        <p:spPr>
          <a:xfrm>
            <a:off x="4406900" y="4668520"/>
            <a:ext cx="3378200" cy="1397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3" name="AutoShape 23"/>
          <p:cNvSpPr/>
          <p:nvPr>
            <p:custDataLst>
              <p:tags r:id="rId27"/>
            </p:custDataLst>
          </p:nvPr>
        </p:nvSpPr>
        <p:spPr>
          <a:xfrm>
            <a:off x="4406900" y="4668520"/>
            <a:ext cx="3378200" cy="50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solidFill>
              <a:schemeClr val="accent4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34" name="Picture 2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660900" y="4922520"/>
            <a:ext cx="457200" cy="457200"/>
          </a:xfrm>
          <a:prstGeom prst="rect">
            <a:avLst/>
          </a:prstGeom>
        </p:spPr>
      </p:pic>
      <p:sp>
        <p:nvSpPr>
          <p:cNvPr id="35" name="AutoShape 25"/>
          <p:cNvSpPr/>
          <p:nvPr>
            <p:custDataLst>
              <p:tags r:id="rId31"/>
            </p:custDataLst>
          </p:nvPr>
        </p:nvSpPr>
        <p:spPr>
          <a:xfrm>
            <a:off x="5295900" y="489712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健康医美服务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引入体检、康养、医美等健康管理方案。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26"/>
          <p:cNvSpPr/>
          <p:nvPr>
            <p:custDataLst>
              <p:tags r:id="rId32"/>
            </p:custDataLst>
          </p:nvPr>
        </p:nvSpPr>
        <p:spPr>
          <a:xfrm>
            <a:off x="8051800" y="4668520"/>
            <a:ext cx="3378200" cy="1397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7" name="AutoShape 27"/>
          <p:cNvSpPr/>
          <p:nvPr>
            <p:custDataLst>
              <p:tags r:id="rId33"/>
            </p:custDataLst>
          </p:nvPr>
        </p:nvSpPr>
        <p:spPr>
          <a:xfrm>
            <a:off x="8051800" y="4668520"/>
            <a:ext cx="3378200" cy="50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solidFill>
              <a:schemeClr val="accent4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38" name="Picture 28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305800" y="4922520"/>
            <a:ext cx="457200" cy="457200"/>
          </a:xfrm>
          <a:prstGeom prst="rect">
            <a:avLst/>
          </a:prstGeom>
        </p:spPr>
      </p:pic>
      <p:sp>
        <p:nvSpPr>
          <p:cNvPr id="39" name="AutoShape 29"/>
          <p:cNvSpPr/>
          <p:nvPr>
            <p:custDataLst>
              <p:tags r:id="rId37"/>
            </p:custDataLst>
          </p:nvPr>
        </p:nvSpPr>
        <p:spPr>
          <a:xfrm>
            <a:off x="8940800" y="489712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教育咨询服务</a:t>
            </a:r>
            <a:endParaRPr lang="zh-CN" alt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知识产权，法律顾问，职业培训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等教育解决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方案。</a:t>
            </a:r>
            <a:endParaRPr lang="zh-CN" alt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animBg="1"/>
      <p:bldP spid="16" grpId="0"/>
      <p:bldP spid="13" grpId="1" animBg="1"/>
      <p:bldP spid="14" grpId="1" animBg="1"/>
      <p:bldP spid="16" grpId="1"/>
      <p:bldP spid="17" grpId="0" bldLvl="0" animBg="1"/>
      <p:bldP spid="18" grpId="0" animBg="1"/>
      <p:bldP spid="20" grpId="0"/>
      <p:bldP spid="17" grpId="1" animBg="1"/>
      <p:bldP spid="18" grpId="1" animBg="1"/>
      <p:bldP spid="20" grpId="1"/>
      <p:bldP spid="21" grpId="0" bldLvl="0" animBg="1"/>
      <p:bldP spid="29" grpId="0" animBg="1"/>
      <p:bldP spid="31" grpId="0"/>
      <p:bldP spid="21" grpId="1" animBg="1"/>
      <p:bldP spid="29" grpId="1" animBg="1"/>
      <p:bldP spid="31" grpId="1"/>
      <p:bldP spid="32" grpId="0" bldLvl="0" animBg="1"/>
      <p:bldP spid="33" grpId="0" animBg="1"/>
      <p:bldP spid="35" grpId="0"/>
      <p:bldP spid="32" grpId="1" animBg="1"/>
      <p:bldP spid="33" grpId="1" animBg="1"/>
      <p:bldP spid="35" grpId="1"/>
      <p:bldP spid="36" grpId="0" bldLvl="0" animBg="1"/>
      <p:bldP spid="37" grpId="0" animBg="1"/>
      <p:bldP spid="39" grpId="0"/>
      <p:bldP spid="36" grpId="1" animBg="1"/>
      <p:bldP spid="37" grpId="1" animBg="1"/>
      <p:bldP spid="3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/>
        </p:nvSpPr>
        <p:spPr>
          <a:xfrm>
            <a:off x="763270" y="50673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专属路演，助力项目推广</a:t>
            </a:r>
            <a:endParaRPr 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5"/>
          <p:cNvCxnSpPr/>
          <p:nvPr/>
        </p:nvCxnSpPr>
        <p:spPr>
          <a:xfrm rot="-3978">
            <a:off x="609604" y="1517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6"/>
          <p:cNvSpPr/>
          <p:nvPr>
            <p:custDataLst>
              <p:tags r:id="rId2"/>
            </p:custDataLst>
          </p:nvPr>
        </p:nvSpPr>
        <p:spPr>
          <a:xfrm>
            <a:off x="2155190" y="2524760"/>
            <a:ext cx="3454400" cy="304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7"/>
          <p:cNvSpPr/>
          <p:nvPr>
            <p:custDataLst>
              <p:tags r:id="rId3"/>
            </p:custDataLst>
          </p:nvPr>
        </p:nvSpPr>
        <p:spPr>
          <a:xfrm>
            <a:off x="2155190" y="2524760"/>
            <a:ext cx="34544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09190" y="2905760"/>
            <a:ext cx="609600" cy="609600"/>
          </a:xfrm>
          <a:prstGeom prst="rect">
            <a:avLst/>
          </a:prstGeom>
        </p:spPr>
      </p:pic>
      <p:sp>
        <p:nvSpPr>
          <p:cNvPr id="12" name="AutoShape 9"/>
          <p:cNvSpPr/>
          <p:nvPr>
            <p:custDataLst>
              <p:tags r:id="rId7"/>
            </p:custDataLst>
          </p:nvPr>
        </p:nvSpPr>
        <p:spPr>
          <a:xfrm>
            <a:off x="3196590" y="290576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高频路演机会</a:t>
            </a:r>
            <a:endParaRPr lang="en-US" sz="2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0"/>
          <p:cNvCxnSpPr/>
          <p:nvPr>
            <p:custDataLst>
              <p:tags r:id="rId8"/>
            </p:custDataLst>
          </p:nvPr>
        </p:nvCxnSpPr>
        <p:spPr>
          <a:xfrm rot="-14817">
            <a:off x="2409204" y="3788410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1"/>
          <p:cNvSpPr/>
          <p:nvPr>
            <p:custDataLst>
              <p:tags r:id="rId9"/>
            </p:custDataLst>
          </p:nvPr>
        </p:nvSpPr>
        <p:spPr>
          <a:xfrm>
            <a:off x="2409190" y="4048760"/>
            <a:ext cx="2946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2 场路演，全年共 6 次公开展示，曝光项目优势，对接客户与合作伙伴。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utoShape 12"/>
          <p:cNvSpPr/>
          <p:nvPr>
            <p:custDataLst>
              <p:tags r:id="rId10"/>
            </p:custDataLst>
          </p:nvPr>
        </p:nvSpPr>
        <p:spPr>
          <a:xfrm>
            <a:off x="6493510" y="2524760"/>
            <a:ext cx="3454400" cy="304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3"/>
          <p:cNvSpPr/>
          <p:nvPr>
            <p:custDataLst>
              <p:tags r:id="rId11"/>
            </p:custDataLst>
          </p:nvPr>
        </p:nvSpPr>
        <p:spPr>
          <a:xfrm>
            <a:off x="6493510" y="2524760"/>
            <a:ext cx="34544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47510" y="2905760"/>
            <a:ext cx="609600" cy="609600"/>
          </a:xfrm>
          <a:prstGeom prst="rect">
            <a:avLst/>
          </a:prstGeom>
        </p:spPr>
      </p:pic>
      <p:sp>
        <p:nvSpPr>
          <p:cNvPr id="18" name="AutoShape 15"/>
          <p:cNvSpPr/>
          <p:nvPr>
            <p:custDataLst>
              <p:tags r:id="rId15"/>
            </p:custDataLst>
          </p:nvPr>
        </p:nvSpPr>
        <p:spPr>
          <a:xfrm>
            <a:off x="7534910" y="290576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</a:t>
            </a:r>
            <a:r>
              <a:rPr lang="zh-CN" alt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推广者培训</a:t>
            </a:r>
            <a:endParaRPr lang="zh-CN" altLang="en-US" sz="2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6"/>
          <p:cNvCxnSpPr/>
          <p:nvPr>
            <p:custDataLst>
              <p:tags r:id="rId16"/>
            </p:custDataLst>
          </p:nvPr>
        </p:nvCxnSpPr>
        <p:spPr>
          <a:xfrm rot="-14817">
            <a:off x="6747524" y="3788410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17"/>
          <p:cNvSpPr/>
          <p:nvPr>
            <p:custDataLst>
              <p:tags r:id="rId17"/>
            </p:custDataLst>
          </p:nvPr>
        </p:nvSpPr>
        <p:spPr>
          <a:xfrm>
            <a:off x="6747510" y="4048760"/>
            <a:ext cx="2946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推广者理解项目核心优势，更好的对接需求者，提升成交率。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生态愿景—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筛选优质</a:t>
            </a:r>
            <a:r>
              <a:rPr lang="zh-CN" alt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</a:t>
            </a:r>
            <a:endParaRPr lang="zh-CN" alt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聚焦核心价值，孵化优质项目。</a:t>
            </a:r>
            <a:endParaRPr lang="en-US" sz="20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91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B800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3429000"/>
            <a:ext cx="3378200" cy="241935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3429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952500" y="348996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B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1000+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5"/>
            </p:custDataLst>
          </p:nvPr>
        </p:nvCxnSpPr>
        <p:spPr>
          <a:xfrm rot="-14566">
            <a:off x="952513" y="462661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952500" y="488696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严选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1000个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项目入驻星河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4406900" y="3429000"/>
            <a:ext cx="3378200" cy="241935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4406900" y="3429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4597400" y="348996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B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0"/>
            </p:custDataLst>
          </p:nvPr>
        </p:nvCxnSpPr>
        <p:spPr>
          <a:xfrm rot="-14566">
            <a:off x="4597413" y="462661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4597400" y="488696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潜力项目深度孵化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8051800" y="3429000"/>
            <a:ext cx="3378200" cy="241935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8051800" y="3429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8242300" y="348996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B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</a:t>
            </a:r>
            <a:endParaRPr lang="en-US" sz="1100"/>
          </a:p>
        </p:txBody>
      </p:sp>
      <p:cxnSp>
        <p:nvCxnSpPr>
          <p:cNvPr id="19" name="Connector 19"/>
          <p:cNvCxnSpPr/>
          <p:nvPr>
            <p:custDataLst>
              <p:tags r:id="rId15"/>
            </p:custDataLst>
          </p:nvPr>
        </p:nvCxnSpPr>
        <p:spPr>
          <a:xfrm rot="-14566">
            <a:off x="8242313" y="462661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8242300" y="4886960"/>
            <a:ext cx="325310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高质量项目注入资金占股，做大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做强。</a:t>
            </a:r>
            <a:endParaRPr lang="zh-CN" alt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5" grpId="0"/>
      <p:bldP spid="11" grpId="1" animBg="1"/>
      <p:bldP spid="12" grpId="1" animBg="1"/>
      <p:bldP spid="13" grpId="1"/>
      <p:bldP spid="15" grpId="1"/>
      <p:bldP spid="16" grpId="0" animBg="1"/>
      <p:bldP spid="17" grpId="0" animBg="1"/>
      <p:bldP spid="18" grpId="0"/>
      <p:bldP spid="20" grpId="0"/>
      <p:bldP spid="16" grpId="1" animBg="1"/>
      <p:bldP spid="17" grpId="1" animBg="1"/>
      <p:bldP spid="18" grpId="1"/>
      <p:bldP spid="2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生态愿景—</a:t>
            </a:r>
            <a:r>
              <a:rPr 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全球布局</a:t>
            </a:r>
            <a:endParaRPr 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Connector 4"/>
          <p:cNvCxnSpPr/>
          <p:nvPr/>
        </p:nvCxnSpPr>
        <p:spPr>
          <a:xfrm rot="-8185">
            <a:off x="508008" y="1598930"/>
            <a:ext cx="533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5"/>
          <p:cNvSpPr/>
          <p:nvPr/>
        </p:nvSpPr>
        <p:spPr>
          <a:xfrm>
            <a:off x="508000" y="1986280"/>
            <a:ext cx="50800" cy="1270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4" name="AutoShape 6"/>
          <p:cNvSpPr/>
          <p:nvPr/>
        </p:nvSpPr>
        <p:spPr>
          <a:xfrm>
            <a:off x="698500" y="1960880"/>
            <a:ext cx="5143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模式验证</a:t>
            </a:r>
            <a:endParaRPr lang="en-US" sz="1100">
              <a:solidFill>
                <a:schemeClr val="tx1"/>
              </a:solidFill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已在新加坡、越南、泰国、马来西亚成功扎根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7"/>
          <p:cNvSpPr/>
          <p:nvPr/>
        </p:nvSpPr>
        <p:spPr>
          <a:xfrm>
            <a:off x="508000" y="3510280"/>
            <a:ext cx="50800" cy="1270000"/>
          </a:xfrm>
          <a:prstGeom prst="roundRect">
            <a:avLst>
              <a:gd name="adj" fmla="val 0"/>
            </a:avLst>
          </a:prstGeom>
          <a:solidFill>
            <a:srgbClr val="FF6A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6" name="AutoShape 8"/>
          <p:cNvSpPr/>
          <p:nvPr/>
        </p:nvSpPr>
        <p:spPr>
          <a:xfrm>
            <a:off x="698500" y="3484880"/>
            <a:ext cx="5143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战略纵深</a:t>
            </a:r>
            <a:endParaRPr lang="en-US" sz="1100">
              <a:solidFill>
                <a:schemeClr val="tx1"/>
              </a:solidFill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加速全球化扩张进程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9"/>
          <p:cNvSpPr/>
          <p:nvPr/>
        </p:nvSpPr>
        <p:spPr>
          <a:xfrm>
            <a:off x="508000" y="4970780"/>
            <a:ext cx="5334000" cy="109664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8" name="AutoShape 10"/>
          <p:cNvSpPr/>
          <p:nvPr/>
        </p:nvSpPr>
        <p:spPr>
          <a:xfrm>
            <a:off x="635000" y="5072380"/>
            <a:ext cx="5080000" cy="8045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8000"/>
              </a:lnSpc>
              <a:defRPr/>
            </a:pPr>
            <a:r>
              <a:rPr lang="en-US" sz="18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共享出海红利</a:t>
            </a: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8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你的项目也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有机会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搭上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全球化快车，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走向国际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</a:t>
            </a:r>
            <a:endParaRPr 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11"/>
          <p:cNvSpPr/>
          <p:nvPr/>
        </p:nvSpPr>
        <p:spPr>
          <a:xfrm>
            <a:off x="6477000" y="1666240"/>
            <a:ext cx="5080000" cy="44627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30" name="Picture 12"/>
          <p:cNvPicPr>
            <a:picLocks noChangeAspect="1"/>
          </p:cNvPicPr>
          <p:nvPr/>
        </p:nvPicPr>
        <p:blipFill>
          <a:blip r:embed="rId2"/>
          <a:srcRect t="9479" b="9479"/>
          <a:stretch>
            <a:fillRect/>
          </a:stretch>
        </p:blipFill>
        <p:spPr>
          <a:xfrm>
            <a:off x="6629400" y="1856740"/>
            <a:ext cx="23495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1" name="AutoShape 13"/>
          <p:cNvSpPr/>
          <p:nvPr/>
        </p:nvSpPr>
        <p:spPr>
          <a:xfrm>
            <a:off x="6629400" y="3190240"/>
            <a:ext cx="2349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新加坡 Singapore</a:t>
            </a:r>
            <a:endParaRPr lang="en-US" sz="14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14"/>
          <p:cNvSpPr/>
          <p:nvPr/>
        </p:nvSpPr>
        <p:spPr>
          <a:xfrm>
            <a:off x="6629400" y="3545840"/>
            <a:ext cx="2349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区域总部核心</a:t>
            </a:r>
            <a:endParaRPr lang="en-US" sz="12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3" name="Picture 15"/>
          <p:cNvPicPr>
            <a:picLocks noChangeAspect="1"/>
          </p:cNvPicPr>
          <p:nvPr/>
        </p:nvPicPr>
        <p:blipFill>
          <a:blip r:embed="rId3"/>
          <a:srcRect t="13915" b="13915"/>
          <a:stretch>
            <a:fillRect/>
          </a:stretch>
        </p:blipFill>
        <p:spPr>
          <a:xfrm>
            <a:off x="9042400" y="1856740"/>
            <a:ext cx="23495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4" name="AutoShape 16"/>
          <p:cNvSpPr/>
          <p:nvPr/>
        </p:nvSpPr>
        <p:spPr>
          <a:xfrm>
            <a:off x="9042400" y="3190240"/>
            <a:ext cx="2349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越南 Vietnam</a:t>
            </a:r>
            <a:endParaRPr lang="en-US" sz="14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17"/>
          <p:cNvSpPr/>
          <p:nvPr/>
        </p:nvSpPr>
        <p:spPr>
          <a:xfrm>
            <a:off x="9042400" y="3545840"/>
            <a:ext cx="2349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依托制造产业优势</a:t>
            </a:r>
            <a:endParaRPr lang="en-US" sz="12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6" name="Picture 18"/>
          <p:cNvPicPr>
            <a:picLocks noChangeAspect="1"/>
          </p:cNvPicPr>
          <p:nvPr/>
        </p:nvPicPr>
        <p:blipFill>
          <a:blip r:embed="rId4"/>
          <a:srcRect t="4035" b="4035"/>
          <a:stretch>
            <a:fillRect/>
          </a:stretch>
        </p:blipFill>
        <p:spPr>
          <a:xfrm>
            <a:off x="6629400" y="3952240"/>
            <a:ext cx="23495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7" name="AutoShape 19"/>
          <p:cNvSpPr/>
          <p:nvPr/>
        </p:nvSpPr>
        <p:spPr>
          <a:xfrm>
            <a:off x="6629400" y="5285740"/>
            <a:ext cx="2349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泰国 Thailand</a:t>
            </a:r>
            <a:endParaRPr lang="en-US" sz="14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20"/>
          <p:cNvSpPr/>
          <p:nvPr/>
        </p:nvSpPr>
        <p:spPr>
          <a:xfrm>
            <a:off x="6629400" y="5641340"/>
            <a:ext cx="2349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深耕全渠道零售市场</a:t>
            </a:r>
            <a:endParaRPr lang="en-US" sz="12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9" name="Picture 21"/>
          <p:cNvPicPr>
            <a:picLocks noChangeAspect="1"/>
          </p:cNvPicPr>
          <p:nvPr/>
        </p:nvPicPr>
        <p:blipFill>
          <a:blip r:embed="rId5"/>
          <a:srcRect l="5253" r="5253"/>
          <a:stretch>
            <a:fillRect/>
          </a:stretch>
        </p:blipFill>
        <p:spPr>
          <a:xfrm>
            <a:off x="9042400" y="3952240"/>
            <a:ext cx="23495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0" name="AutoShape 22"/>
          <p:cNvSpPr/>
          <p:nvPr/>
        </p:nvSpPr>
        <p:spPr>
          <a:xfrm>
            <a:off x="9042400" y="5285740"/>
            <a:ext cx="2349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马来西亚 Malaysia</a:t>
            </a:r>
            <a:endParaRPr lang="en-US" sz="14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23"/>
          <p:cNvSpPr/>
          <p:nvPr/>
        </p:nvSpPr>
        <p:spPr>
          <a:xfrm>
            <a:off x="9042400" y="5641340"/>
            <a:ext cx="2349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搭建区域物流中转中心</a:t>
            </a:r>
            <a:endParaRPr lang="en-US" sz="12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3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风控与保障</a:t>
            </a:r>
            <a:endParaRPr 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4"/>
          <p:cNvSpPr/>
          <p:nvPr/>
        </p:nvSpPr>
        <p:spPr>
          <a:xfrm>
            <a:off x="762000" y="2032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2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23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2222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7"/>
          <p:cNvSpPr/>
          <p:nvPr/>
        </p:nvSpPr>
        <p:spPr>
          <a:xfrm>
            <a:off x="1397000" y="21971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反层级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5" name="Connector 8"/>
          <p:cNvCxnSpPr/>
          <p:nvPr/>
        </p:nvCxnSpPr>
        <p:spPr>
          <a:xfrm rot="-14566">
            <a:off x="952513" y="2724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9"/>
          <p:cNvSpPr/>
          <p:nvPr/>
        </p:nvSpPr>
        <p:spPr>
          <a:xfrm>
            <a:off x="952500" y="2857500"/>
            <a:ext cx="29972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佣金仅限直接推荐销售产生，系统自动拦截异常层级链路，确保合规安全。</a:t>
            </a:r>
            <a:endParaRPr lang="zh-CN" alt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10"/>
          <p:cNvSpPr/>
          <p:nvPr/>
        </p:nvSpPr>
        <p:spPr>
          <a:xfrm>
            <a:off x="4394200" y="2032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8" name="AutoShape 11"/>
          <p:cNvSpPr/>
          <p:nvPr/>
        </p:nvSpPr>
        <p:spPr>
          <a:xfrm>
            <a:off x="43942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40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84700" y="2222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1" name="AutoShape 13"/>
          <p:cNvSpPr/>
          <p:nvPr/>
        </p:nvSpPr>
        <p:spPr>
          <a:xfrm>
            <a:off x="5029200" y="21971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技术锁客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2" name="Connector 14"/>
          <p:cNvCxnSpPr/>
          <p:nvPr/>
        </p:nvCxnSpPr>
        <p:spPr>
          <a:xfrm rot="-14566">
            <a:off x="4584713" y="2724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15"/>
          <p:cNvSpPr/>
          <p:nvPr/>
        </p:nvSpPr>
        <p:spPr>
          <a:xfrm>
            <a:off x="4584700" y="2857500"/>
            <a:ext cx="29972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每笔交易绑定唯一推荐人</a:t>
            </a:r>
            <a:r>
              <a:rPr lang="en-US" altLang="zh-CN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ID，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不可篡改，保障双方权益。</a:t>
            </a:r>
            <a:endParaRPr lang="zh-CN" alt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AutoShape 16"/>
          <p:cNvSpPr/>
          <p:nvPr/>
        </p:nvSpPr>
        <p:spPr>
          <a:xfrm>
            <a:off x="8026400" y="2032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5" name="AutoShape 17"/>
          <p:cNvSpPr/>
          <p:nvPr/>
        </p:nvSpPr>
        <p:spPr>
          <a:xfrm>
            <a:off x="80264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46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16900" y="2222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7" name="AutoShape 19"/>
          <p:cNvSpPr/>
          <p:nvPr/>
        </p:nvSpPr>
        <p:spPr>
          <a:xfrm>
            <a:off x="8661400" y="21971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项目严审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8" name="Connector 20"/>
          <p:cNvCxnSpPr/>
          <p:nvPr/>
        </p:nvCxnSpPr>
        <p:spPr>
          <a:xfrm rot="-14566">
            <a:off x="8216913" y="2724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AutoShape 21"/>
          <p:cNvSpPr/>
          <p:nvPr/>
        </p:nvSpPr>
        <p:spPr>
          <a:xfrm>
            <a:off x="8216900" y="2857500"/>
            <a:ext cx="3180715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设立三方风控委员会，拒绝纯资金盘、非法集资、灰色产业，从源头掐断风险。</a:t>
            </a:r>
            <a:endParaRPr lang="zh-CN" alt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0" name="AutoShape 22"/>
          <p:cNvSpPr/>
          <p:nvPr/>
        </p:nvSpPr>
        <p:spPr>
          <a:xfrm>
            <a:off x="762000" y="4318000"/>
            <a:ext cx="5245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51" name="AutoShape 23"/>
          <p:cNvSpPr/>
          <p:nvPr/>
        </p:nvSpPr>
        <p:spPr>
          <a:xfrm>
            <a:off x="762000" y="4318000"/>
            <a:ext cx="5245100" cy="508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52" name="Picture 2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52500" y="4508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3" name="AutoShape 25"/>
          <p:cNvSpPr/>
          <p:nvPr/>
        </p:nvSpPr>
        <p:spPr>
          <a:xfrm>
            <a:off x="1397000" y="4483100"/>
            <a:ext cx="431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资金保障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4" name="Connector 26"/>
          <p:cNvCxnSpPr/>
          <p:nvPr/>
        </p:nvCxnSpPr>
        <p:spPr>
          <a:xfrm rot="-8975">
            <a:off x="952508" y="5010150"/>
            <a:ext cx="486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AutoShape 27"/>
          <p:cNvSpPr/>
          <p:nvPr/>
        </p:nvSpPr>
        <p:spPr>
          <a:xfrm>
            <a:off x="952500" y="5143500"/>
            <a:ext cx="48641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结算系统与银行共管，扶持资金坏账率长期控制在 1%以下。</a:t>
            </a:r>
            <a:endParaRPr lang="zh-CN" alt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6" name="AutoShape 28"/>
          <p:cNvSpPr/>
          <p:nvPr/>
        </p:nvSpPr>
        <p:spPr>
          <a:xfrm>
            <a:off x="6261100" y="4318000"/>
            <a:ext cx="5245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B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57" name="AutoShape 29"/>
          <p:cNvSpPr/>
          <p:nvPr/>
        </p:nvSpPr>
        <p:spPr>
          <a:xfrm>
            <a:off x="6261100" y="4318000"/>
            <a:ext cx="5245100" cy="50800"/>
          </a:xfrm>
          <a:prstGeom prst="roundRect">
            <a:avLst>
              <a:gd name="adj" fmla="val 0"/>
            </a:avLst>
          </a:prstGeom>
          <a:solidFill>
            <a:srgbClr val="FFB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58" name="Picture 3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51600" y="4508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9" name="AutoShape 31"/>
          <p:cNvSpPr/>
          <p:nvPr/>
        </p:nvSpPr>
        <p:spPr>
          <a:xfrm>
            <a:off x="6896100" y="4483100"/>
            <a:ext cx="431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底线声明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0" name="Connector 32"/>
          <p:cNvCxnSpPr/>
          <p:nvPr/>
        </p:nvCxnSpPr>
        <p:spPr>
          <a:xfrm rot="-8975">
            <a:off x="6451608" y="5010150"/>
            <a:ext cx="486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AutoShape 33"/>
          <p:cNvSpPr/>
          <p:nvPr/>
        </p:nvSpPr>
        <p:spPr>
          <a:xfrm>
            <a:off x="6451600" y="5143500"/>
            <a:ext cx="48641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坚守合规经营，坚决不碰洗钱、传销等红线，共建健康可持续生态。</a:t>
            </a:r>
            <a:endParaRPr lang="zh-CN" alt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41" grpId="0"/>
      <p:bldP spid="43" grpId="0"/>
      <p:bldP spid="27" grpId="1" animBg="1"/>
      <p:bldP spid="28" grpId="1" animBg="1"/>
      <p:bldP spid="41" grpId="1"/>
      <p:bldP spid="43" grpId="1"/>
      <p:bldP spid="44" grpId="0" animBg="1"/>
      <p:bldP spid="45" grpId="0" animBg="1"/>
      <p:bldP spid="47" grpId="0"/>
      <p:bldP spid="49" grpId="0"/>
      <p:bldP spid="44" grpId="1" animBg="1"/>
      <p:bldP spid="45" grpId="1" animBg="1"/>
      <p:bldP spid="47" grpId="1"/>
      <p:bldP spid="49" grpId="1"/>
      <p:bldP spid="50" grpId="0" animBg="1"/>
      <p:bldP spid="51" grpId="0" animBg="1"/>
      <p:bldP spid="53" grpId="0"/>
      <p:bldP spid="55" grpId="0"/>
      <p:bldP spid="50" grpId="1" animBg="1"/>
      <p:bldP spid="51" grpId="1" animBg="1"/>
      <p:bldP spid="53" grpId="1"/>
      <p:bldP spid="55" grpId="1"/>
      <p:bldP spid="56" grpId="0" animBg="1"/>
      <p:bldP spid="57" grpId="0" animBg="1"/>
      <p:bldP spid="59" grpId="0"/>
      <p:bldP spid="61" grpId="0"/>
      <p:bldP spid="56" grpId="1" animBg="1"/>
      <p:bldP spid="57" grpId="1" animBg="1"/>
      <p:bldP spid="59" grpId="1"/>
      <p:bldP spid="6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星河俱乐部</a:t>
            </a:r>
            <a:r>
              <a:rPr 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—</a:t>
            </a:r>
            <a:r>
              <a:rPr lang="en-US" sz="3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您全方位的需求解决方案</a:t>
            </a:r>
            <a:endParaRPr lang="en-US" sz="3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6" name="AutoShape 4"/>
          <p:cNvSpPr/>
          <p:nvPr/>
        </p:nvSpPr>
        <p:spPr>
          <a:xfrm>
            <a:off x="762000" y="1798320"/>
            <a:ext cx="10668000" cy="6883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20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5"/>
          <p:cNvSpPr/>
          <p:nvPr>
            <p:custDataLst>
              <p:tags r:id="rId2"/>
            </p:custDataLst>
          </p:nvPr>
        </p:nvSpPr>
        <p:spPr>
          <a:xfrm>
            <a:off x="762000" y="257048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6"/>
          <p:cNvSpPr/>
          <p:nvPr>
            <p:custDataLst>
              <p:tags r:id="rId3"/>
            </p:custDataLst>
          </p:nvPr>
        </p:nvSpPr>
        <p:spPr>
          <a:xfrm>
            <a:off x="762000" y="2570480"/>
            <a:ext cx="3429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887980"/>
            <a:ext cx="609600" cy="609600"/>
          </a:xfrm>
          <a:prstGeom prst="rect">
            <a:avLst/>
          </a:prstGeom>
        </p:spPr>
      </p:pic>
      <p:sp>
        <p:nvSpPr>
          <p:cNvPr id="30" name="AutoShape 8"/>
          <p:cNvSpPr/>
          <p:nvPr>
            <p:custDataLst>
              <p:tags r:id="rId7"/>
            </p:custDataLst>
          </p:nvPr>
        </p:nvSpPr>
        <p:spPr>
          <a:xfrm>
            <a:off x="1016000" y="371348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项目丰富</a:t>
            </a:r>
            <a:endParaRPr lang="en-US" sz="1100"/>
          </a:p>
        </p:txBody>
      </p:sp>
      <p:cxnSp>
        <p:nvCxnSpPr>
          <p:cNvPr id="31" name="Connector 9"/>
          <p:cNvCxnSpPr/>
          <p:nvPr>
            <p:custDataLst>
              <p:tags r:id="rId8"/>
            </p:custDataLst>
          </p:nvPr>
        </p:nvCxnSpPr>
        <p:spPr>
          <a:xfrm rot="-14946">
            <a:off x="1016014" y="434213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10"/>
          <p:cNvSpPr/>
          <p:nvPr>
            <p:custDataLst>
              <p:tags r:id="rId9"/>
            </p:custDataLst>
          </p:nvPr>
        </p:nvSpPr>
        <p:spPr>
          <a:xfrm>
            <a:off x="1016000" y="453898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加入星河俱乐部，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平台海量成熟项目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、产品、服务都为你所用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11"/>
          <p:cNvSpPr/>
          <p:nvPr>
            <p:custDataLst>
              <p:tags r:id="rId10"/>
            </p:custDataLst>
          </p:nvPr>
        </p:nvSpPr>
        <p:spPr>
          <a:xfrm>
            <a:off x="4381500" y="257048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12"/>
          <p:cNvSpPr/>
          <p:nvPr>
            <p:custDataLst>
              <p:tags r:id="rId11"/>
            </p:custDataLst>
          </p:nvPr>
        </p:nvSpPr>
        <p:spPr>
          <a:xfrm>
            <a:off x="4381500" y="2570480"/>
            <a:ext cx="3429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35500" y="2887980"/>
            <a:ext cx="609600" cy="609600"/>
          </a:xfrm>
          <a:prstGeom prst="rect">
            <a:avLst/>
          </a:prstGeom>
        </p:spPr>
      </p:pic>
      <p:sp>
        <p:nvSpPr>
          <p:cNvPr id="36" name="AutoShape 14"/>
          <p:cNvSpPr/>
          <p:nvPr>
            <p:custDataLst>
              <p:tags r:id="rId15"/>
            </p:custDataLst>
          </p:nvPr>
        </p:nvSpPr>
        <p:spPr>
          <a:xfrm>
            <a:off x="4635500" y="371348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</a:t>
            </a:r>
            <a:r>
              <a:rPr lang="zh-CN" alt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资产创业</a:t>
            </a:r>
            <a:endParaRPr lang="zh-CN" alt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7" name="Connector 15"/>
          <p:cNvCxnSpPr/>
          <p:nvPr>
            <p:custDataLst>
              <p:tags r:id="rId16"/>
            </p:custDataLst>
          </p:nvPr>
        </p:nvCxnSpPr>
        <p:spPr>
          <a:xfrm rot="-14946">
            <a:off x="4635514" y="434213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16"/>
          <p:cNvSpPr/>
          <p:nvPr>
            <p:custDataLst>
              <p:tags r:id="rId17"/>
            </p:custDataLst>
          </p:nvPr>
        </p:nvSpPr>
        <p:spPr>
          <a:xfrm>
            <a:off x="4635500" y="453898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无需压货囤货、不用资金垫资，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星河所有项目都可以推广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17"/>
          <p:cNvSpPr/>
          <p:nvPr>
            <p:custDataLst>
              <p:tags r:id="rId18"/>
            </p:custDataLst>
          </p:nvPr>
        </p:nvSpPr>
        <p:spPr>
          <a:xfrm>
            <a:off x="8001000" y="257048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18"/>
          <p:cNvSpPr/>
          <p:nvPr>
            <p:custDataLst>
              <p:tags r:id="rId19"/>
            </p:custDataLst>
          </p:nvPr>
        </p:nvSpPr>
        <p:spPr>
          <a:xfrm>
            <a:off x="8001000" y="2570480"/>
            <a:ext cx="3429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55000" y="2887980"/>
            <a:ext cx="609600" cy="609600"/>
          </a:xfrm>
          <a:prstGeom prst="rect">
            <a:avLst/>
          </a:prstGeom>
        </p:spPr>
      </p:pic>
      <p:sp>
        <p:nvSpPr>
          <p:cNvPr id="42" name="AutoShape 20"/>
          <p:cNvSpPr/>
          <p:nvPr>
            <p:custDataLst>
              <p:tags r:id="rId23"/>
            </p:custDataLst>
          </p:nvPr>
        </p:nvSpPr>
        <p:spPr>
          <a:xfrm>
            <a:off x="8255000" y="371348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</a:t>
            </a:r>
            <a:endParaRPr lang="en-US" sz="1100"/>
          </a:p>
        </p:txBody>
      </p:sp>
      <p:cxnSp>
        <p:nvCxnSpPr>
          <p:cNvPr id="43" name="Connector 21"/>
          <p:cNvCxnSpPr/>
          <p:nvPr>
            <p:custDataLst>
              <p:tags r:id="rId24"/>
            </p:custDataLst>
          </p:nvPr>
        </p:nvCxnSpPr>
        <p:spPr>
          <a:xfrm rot="-14946">
            <a:off x="8255014" y="434213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AutoShape 22"/>
          <p:cNvSpPr/>
          <p:nvPr>
            <p:custDataLst>
              <p:tags r:id="rId25"/>
            </p:custDataLst>
          </p:nvPr>
        </p:nvSpPr>
        <p:spPr>
          <a:xfrm>
            <a:off x="8194040" y="4538980"/>
            <a:ext cx="3033395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挖掘身边有需求的客户资源，对接平台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赚到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收益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，不用</a:t>
            </a:r>
            <a:r>
              <a:rPr lang="zh-CN" alt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自己服务</a:t>
            </a: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762000" y="139446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B8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4" grpId="0" bldLvl="0" animBg="1"/>
      <p:bldP spid="36" grpId="0"/>
      <p:bldP spid="38" grpId="0"/>
      <p:bldP spid="33" grpId="1" animBg="1"/>
      <p:bldP spid="34" grpId="1" animBg="1"/>
      <p:bldP spid="36" grpId="1"/>
      <p:bldP spid="38" grpId="1"/>
      <p:bldP spid="39" grpId="0" bldLvl="0" animBg="1"/>
      <p:bldP spid="40" grpId="0" bldLvl="0" animBg="1"/>
      <p:bldP spid="42" grpId="0"/>
      <p:bldP spid="44" grpId="0"/>
      <p:bldP spid="39" grpId="1" animBg="1"/>
      <p:bldP spid="40" grpId="1" animBg="1"/>
      <p:bldP spid="42" grpId="1"/>
      <p:bldP spid="4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5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5334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7"/>
          <p:cNvSpPr/>
          <p:nvPr/>
        </p:nvSpPr>
        <p:spPr>
          <a:xfrm>
            <a:off x="1651000" y="5308600"/>
            <a:ext cx="2794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4AF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合作热线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400-XXX-XXXX</a:t>
            </a:r>
            <a:endParaRPr lang="en-US" sz="14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8"/>
          <p:cNvCxnSpPr/>
          <p:nvPr/>
        </p:nvCxnSpPr>
        <p:spPr>
          <a:xfrm rot="5342709">
            <a:off x="4191000" y="5708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26000" y="5334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10"/>
          <p:cNvSpPr/>
          <p:nvPr/>
        </p:nvSpPr>
        <p:spPr>
          <a:xfrm>
            <a:off x="5461000" y="5308600"/>
            <a:ext cx="2794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4AF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官方网站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www.xishuashua.com</a:t>
            </a:r>
            <a:endParaRPr lang="en-US" sz="14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4" name="Connector 11"/>
          <p:cNvCxnSpPr/>
          <p:nvPr/>
        </p:nvCxnSpPr>
        <p:spPr>
          <a:xfrm rot="5342709">
            <a:off x="7493000" y="5708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28000" y="5334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13"/>
          <p:cNvSpPr/>
          <p:nvPr/>
        </p:nvSpPr>
        <p:spPr>
          <a:xfrm>
            <a:off x="8699500" y="5308600"/>
            <a:ext cx="2730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4AF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联系邮箱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partner@xishuashua.com</a:t>
            </a:r>
            <a:endParaRPr lang="en-US" sz="14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14"/>
          <p:cNvSpPr/>
          <p:nvPr/>
        </p:nvSpPr>
        <p:spPr>
          <a:xfrm>
            <a:off x="0" y="1697355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加入</a:t>
            </a: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星河   </a:t>
            </a: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共创未来</a:t>
            </a:r>
            <a:endParaRPr lang="zh-CN" altLang="en-US" sz="4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2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3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4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5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6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7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8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9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10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11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12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13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14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15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16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17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18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19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20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21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22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23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24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25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26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27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28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29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30.xml><?xml version="1.0" encoding="utf-8"?>
<p:tagLst xmlns:p="http://schemas.openxmlformats.org/presentationml/2006/main">
  <p:tag name="KSO_WM_DIAGRAM_VIRTUALLY_FRAME" val="{&quot;height&quot;:325,&quot;left&quot;:60,&quot;top&quot;:160,&quot;width&quot;:846}"/>
</p:tagLst>
</file>

<file path=ppt/tags/tag31.xml><?xml version="1.0" encoding="utf-8"?>
<p:tagLst xmlns:p="http://schemas.openxmlformats.org/presentationml/2006/main">
  <p:tag name="KSO_WM_DIAGRAM_VIRTUALLY_FRAME" val="{&quot;height&quot;:305,&quot;left&quot;:410,&quot;top&quot;:150,&quot;width&quot;:505}"/>
</p:tagLst>
</file>

<file path=ppt/tags/tag32.xml><?xml version="1.0" encoding="utf-8"?>
<p:tagLst xmlns:p="http://schemas.openxmlformats.org/presentationml/2006/main">
  <p:tag name="KSO_WM_DIAGRAM_VIRTUALLY_FRAME" val="{&quot;height&quot;:305,&quot;left&quot;:410,&quot;top&quot;:150,&quot;width&quot;:505}"/>
</p:tagLst>
</file>

<file path=ppt/tags/tag33.xml><?xml version="1.0" encoding="utf-8"?>
<p:tagLst xmlns:p="http://schemas.openxmlformats.org/presentationml/2006/main">
  <p:tag name="KSO_WM_DIAGRAM_VIRTUALLY_FRAME" val="{&quot;height&quot;:305,&quot;left&quot;:410,&quot;top&quot;:150,&quot;width&quot;:505}"/>
</p:tagLst>
</file>

<file path=ppt/tags/tag34.xml><?xml version="1.0" encoding="utf-8"?>
<p:tagLst xmlns:p="http://schemas.openxmlformats.org/presentationml/2006/main">
  <p:tag name="KSO_WM_DIAGRAM_VIRTUALLY_FRAME" val="{&quot;height&quot;:305,&quot;left&quot;:410,&quot;top&quot;:150,&quot;width&quot;:505}"/>
</p:tagLst>
</file>

<file path=ppt/tags/tag35.xml><?xml version="1.0" encoding="utf-8"?>
<p:tagLst xmlns:p="http://schemas.openxmlformats.org/presentationml/2006/main">
  <p:tag name="KSO_WM_DIAGRAM_VIRTUALLY_FRAME" val="{&quot;height&quot;:305,&quot;left&quot;:410,&quot;top&quot;:150,&quot;width&quot;:505}"/>
</p:tagLst>
</file>

<file path=ppt/tags/tag36.xml><?xml version="1.0" encoding="utf-8"?>
<p:tagLst xmlns:p="http://schemas.openxmlformats.org/presentationml/2006/main">
  <p:tag name="KSO_WM_DIAGRAM_VIRTUALLY_FRAME" val="{&quot;height&quot;:305,&quot;left&quot;:410,&quot;top&quot;:150,&quot;width&quot;:505}"/>
</p:tagLst>
</file>

<file path=ppt/tags/tag37.xml><?xml version="1.0" encoding="utf-8"?>
<p:tagLst xmlns:p="http://schemas.openxmlformats.org/presentationml/2006/main">
  <p:tag name="KSO_WM_DIAGRAM_VIRTUALLY_FRAME" val="{&quot;height&quot;:305,&quot;left&quot;:410,&quot;top&quot;:150,&quot;width&quot;:505}"/>
</p:tagLst>
</file>

<file path=ppt/tags/tag38.xml><?xml version="1.0" encoding="utf-8"?>
<p:tagLst xmlns:p="http://schemas.openxmlformats.org/presentationml/2006/main">
  <p:tag name="KSO_WM_DIAGRAM_VIRTUALLY_FRAME" val="{&quot;height&quot;:305,&quot;left&quot;:410,&quot;top&quot;:150,&quot;width&quot;:505}"/>
</p:tagLst>
</file>

<file path=ppt/tags/tag39.xml><?xml version="1.0" encoding="utf-8"?>
<p:tagLst xmlns:p="http://schemas.openxmlformats.org/presentationml/2006/main">
  <p:tag name="KSO_WM_DIAGRAM_VIRTUALLY_FRAME" val="{&quot;height&quot;:305,&quot;left&quot;:410,&quot;top&quot;:150,&quot;width&quot;:505}"/>
</p:tagLst>
</file>

<file path=ppt/tags/tag40.xml><?xml version="1.0" encoding="utf-8"?>
<p:tagLst xmlns:p="http://schemas.openxmlformats.org/presentationml/2006/main">
  <p:tag name="KSO_WM_DIAGRAM_VIRTUALLY_FRAME" val="{&quot;height&quot;:305,&quot;left&quot;:410,&quot;top&quot;:150,&quot;width&quot;:505}"/>
</p:tagLst>
</file>

<file path=ppt/tags/tag41.xml><?xml version="1.0" encoding="utf-8"?>
<p:tagLst xmlns:p="http://schemas.openxmlformats.org/presentationml/2006/main">
  <p:tag name="KSO_WM_DIAGRAM_VIRTUALLY_FRAME" val="{&quot;height&quot;:305,&quot;left&quot;:410,&quot;top&quot;:150,&quot;width&quot;:505}"/>
</p:tagLst>
</file>

<file path=ppt/tags/tag42.xml><?xml version="1.0" encoding="utf-8"?>
<p:tagLst xmlns:p="http://schemas.openxmlformats.org/presentationml/2006/main">
  <p:tag name="KSO_WM_DIAGRAM_VIRTUALLY_FRAME" val="{&quot;height&quot;:305,&quot;left&quot;:410,&quot;top&quot;:150,&quot;width&quot;:505}"/>
</p:tagLst>
</file>

<file path=ppt/tags/tag43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44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45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46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47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48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49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50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51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52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53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54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55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56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57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58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59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60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61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62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63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64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65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66.xml><?xml version="1.0" encoding="utf-8"?>
<p:tagLst xmlns:p="http://schemas.openxmlformats.org/presentationml/2006/main">
  <p:tag name="KSO_WM_DIAGRAM_VIRTUALLY_FRAME" val="{&quot;height&quot;:335,&quot;left&quot;:60,&quot;top&quot;:150,&quot;width&quot;:860}"/>
</p:tagLst>
</file>

<file path=ppt/tags/tag67.xml><?xml version="1.0" encoding="utf-8"?>
<p:tagLst xmlns:p="http://schemas.openxmlformats.org/presentationml/2006/main">
  <p:tag name="KSO_WM_DIAGRAM_VIRTUALLY_FRAME" val="{&quot;height&quot;:255,&quot;left&quot;:60,&quot;top&quot;:220,&quot;width&quot;:840.05}"/>
</p:tagLst>
</file>

<file path=ppt/tags/tag68.xml><?xml version="1.0" encoding="utf-8"?>
<p:tagLst xmlns:p="http://schemas.openxmlformats.org/presentationml/2006/main">
  <p:tag name="KSO_WM_DIAGRAM_VIRTUALLY_FRAME" val="{&quot;height&quot;:255,&quot;left&quot;:60,&quot;top&quot;:220,&quot;width&quot;:840.05}"/>
</p:tagLst>
</file>

<file path=ppt/tags/tag69.xml><?xml version="1.0" encoding="utf-8"?>
<p:tagLst xmlns:p="http://schemas.openxmlformats.org/presentationml/2006/main">
  <p:tag name="KSO_WM_DIAGRAM_VIRTUALLY_FRAME" val="{&quot;height&quot;:255,&quot;left&quot;:60,&quot;top&quot;:220,&quot;width&quot;:840.05}"/>
</p:tagLst>
</file>

<file path=ppt/tags/tag70.xml><?xml version="1.0" encoding="utf-8"?>
<p:tagLst xmlns:p="http://schemas.openxmlformats.org/presentationml/2006/main">
  <p:tag name="KSO_WM_DIAGRAM_VIRTUALLY_FRAME" val="{&quot;height&quot;:255,&quot;left&quot;:60,&quot;top&quot;:220,&quot;width&quot;:840.05}"/>
</p:tagLst>
</file>

<file path=ppt/tags/tag71.xml><?xml version="1.0" encoding="utf-8"?>
<p:tagLst xmlns:p="http://schemas.openxmlformats.org/presentationml/2006/main">
  <p:tag name="KSO_WM_DIAGRAM_VIRTUALLY_FRAME" val="{&quot;height&quot;:255,&quot;left&quot;:60,&quot;top&quot;:220,&quot;width&quot;:840.05}"/>
</p:tagLst>
</file>

<file path=ppt/tags/tag72.xml><?xml version="1.0" encoding="utf-8"?>
<p:tagLst xmlns:p="http://schemas.openxmlformats.org/presentationml/2006/main">
  <p:tag name="KSO_WM_DIAGRAM_VIRTUALLY_FRAME" val="{&quot;height&quot;:255,&quot;left&quot;:60,&quot;top&quot;:220,&quot;width&quot;:840.05}"/>
</p:tagLst>
</file>

<file path=ppt/tags/tag73.xml><?xml version="1.0" encoding="utf-8"?>
<p:tagLst xmlns:p="http://schemas.openxmlformats.org/presentationml/2006/main">
  <p:tag name="KSO_WM_DIAGRAM_VIRTUALLY_FRAME" val="{&quot;height&quot;:255,&quot;left&quot;:60,&quot;top&quot;:220,&quot;width&quot;:840.05}"/>
</p:tagLst>
</file>

<file path=ppt/tags/tag74.xml><?xml version="1.0" encoding="utf-8"?>
<p:tagLst xmlns:p="http://schemas.openxmlformats.org/presentationml/2006/main">
  <p:tag name="KSO_WM_DIAGRAM_VIRTUALLY_FRAME" val="{&quot;height&quot;:255,&quot;left&quot;:60,&quot;top&quot;:220,&quot;width&quot;:840.05}"/>
</p:tagLst>
</file>

<file path=ppt/tags/tag75.xml><?xml version="1.0" encoding="utf-8"?>
<p:tagLst xmlns:p="http://schemas.openxmlformats.org/presentationml/2006/main">
  <p:tag name="KSO_WM_DIAGRAM_VIRTUALLY_FRAME" val="{&quot;height&quot;:255,&quot;left&quot;:60,&quot;top&quot;:220,&quot;width&quot;:840.05}"/>
</p:tagLst>
</file>

<file path=ppt/tags/tag76.xml><?xml version="1.0" encoding="utf-8"?>
<p:tagLst xmlns:p="http://schemas.openxmlformats.org/presentationml/2006/main">
  <p:tag name="KSO_WM_DIAGRAM_VIRTUALLY_FRAME" val="{&quot;height&quot;:255,&quot;left&quot;:60,&quot;top&quot;:220,&quot;width&quot;:840.05}"/>
</p:tagLst>
</file>

<file path=ppt/tags/tag77.xml><?xml version="1.0" encoding="utf-8"?>
<p:tagLst xmlns:p="http://schemas.openxmlformats.org/presentationml/2006/main">
  <p:tag name="KSO_WM_DIAGRAM_VIRTUALLY_FRAME" val="{&quot;height&quot;:255,&quot;left&quot;:60,&quot;top&quot;:220,&quot;width&quot;:840.05}"/>
</p:tagLst>
</file>

<file path=ppt/tags/tag78.xml><?xml version="1.0" encoding="utf-8"?>
<p:tagLst xmlns:p="http://schemas.openxmlformats.org/presentationml/2006/main">
  <p:tag name="KSO_WM_DIAGRAM_VIRTUALLY_FRAME" val="{&quot;height&quot;:255,&quot;left&quot;:60,&quot;top&quot;:220,&quot;width&quot;:840.05}"/>
</p:tagLst>
</file>

<file path=ppt/tags/tag79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80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81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82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83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84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85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86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87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88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89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90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91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92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93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94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95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96.xml><?xml version="1.0" encoding="utf-8"?>
<p:tagLst xmlns:p="http://schemas.openxmlformats.org/presentationml/2006/main">
  <p:tag name="KSO_WM_DIAGRAM_VIRTUALLY_FRAME" val="{&quot;height&quot;:417.6,&quot;left&quot;:60,&quot;top&quot;:104.4,&quot;width&quot;:840}"/>
</p:tagLst>
</file>

<file path=ppt/tags/tag97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98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99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00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01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02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03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04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05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06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07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08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09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10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11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12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13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14.xml><?xml version="1.0" encoding="utf-8"?>
<p:tagLst xmlns:p="http://schemas.openxmlformats.org/presentationml/2006/main">
  <p:tag name="KSO_WM_DIAGRAM_VIRTUALLY_FRAME" val="{&quot;height&quot;:185.2,&quot;left&quot;:60,&quot;top&quot;:284.8,&quot;width&quot;:840}"/>
</p:tagLst>
</file>

<file path=ppt/tags/tag115.xml><?xml version="1.0" encoding="utf-8"?>
<p:tagLst xmlns:p="http://schemas.openxmlformats.org/presentationml/2006/main">
  <p:tag name="KSO_WM_DIAGRAM_VIRTUALLY_FRAME" val="{&quot;height&quot;:280,&quot;left&quot;:30,&quot;top&quot;:150,&quot;width&quot;:900}"/>
</p:tagLst>
</file>

<file path=ppt/tags/tag116.xml><?xml version="1.0" encoding="utf-8"?>
<p:tagLst xmlns:p="http://schemas.openxmlformats.org/presentationml/2006/main">
  <p:tag name="KSO_WM_DIAGRAM_VIRTUALLY_FRAME" val="{&quot;height&quot;:280,&quot;left&quot;:30,&quot;top&quot;:150,&quot;width&quot;:900}"/>
</p:tagLst>
</file>

<file path=ppt/tags/tag117.xml><?xml version="1.0" encoding="utf-8"?>
<p:tagLst xmlns:p="http://schemas.openxmlformats.org/presentationml/2006/main">
  <p:tag name="KSO_WM_DIAGRAM_VIRTUALLY_FRAME" val="{&quot;height&quot;:280,&quot;left&quot;:30,&quot;top&quot;:150,&quot;width&quot;:900}"/>
</p:tagLst>
</file>

<file path=ppt/tags/tag118.xml><?xml version="1.0" encoding="utf-8"?>
<p:tagLst xmlns:p="http://schemas.openxmlformats.org/presentationml/2006/main">
  <p:tag name="KSO_WM_DIAGRAM_VIRTUALLY_FRAME" val="{&quot;height&quot;:280,&quot;left&quot;:30,&quot;top&quot;:150,&quot;width&quot;:900}"/>
</p:tagLst>
</file>

<file path=ppt/tags/tag119.xml><?xml version="1.0" encoding="utf-8"?>
<p:tagLst xmlns:p="http://schemas.openxmlformats.org/presentationml/2006/main">
  <p:tag name="KSO_WM_DIAGRAM_VIRTUALLY_FRAME" val="{&quot;height&quot;:280,&quot;left&quot;:30,&quot;top&quot;:150,&quot;width&quot;:900}"/>
</p:tagLst>
</file>

<file path=ppt/tags/tag120.xml><?xml version="1.0" encoding="utf-8"?>
<p:tagLst xmlns:p="http://schemas.openxmlformats.org/presentationml/2006/main">
  <p:tag name="KSO_WM_DIAGRAM_VIRTUALLY_FRAME" val="{&quot;height&quot;:280,&quot;left&quot;:30,&quot;top&quot;:150,&quot;width&quot;:900}"/>
</p:tagLst>
</file>

<file path=ppt/tags/tag121.xml><?xml version="1.0" encoding="utf-8"?>
<p:tagLst xmlns:p="http://schemas.openxmlformats.org/presentationml/2006/main">
  <p:tag name="KSO_WM_DIAGRAM_VIRTUALLY_FRAME" val="{&quot;height&quot;:280,&quot;left&quot;:30,&quot;top&quot;:150,&quot;width&quot;:900}"/>
</p:tagLst>
</file>

<file path=ppt/tags/tag122.xml><?xml version="1.0" encoding="utf-8"?>
<p:tagLst xmlns:p="http://schemas.openxmlformats.org/presentationml/2006/main">
  <p:tag name="KSO_WM_DIAGRAM_VIRTUALLY_FRAME" val="{&quot;height&quot;:280,&quot;left&quot;:30,&quot;top&quot;:150,&quot;width&quot;:900}"/>
</p:tagLst>
</file>

<file path=ppt/tags/tag123.xml><?xml version="1.0" encoding="utf-8"?>
<p:tagLst xmlns:p="http://schemas.openxmlformats.org/presentationml/2006/main">
  <p:tag name="KSO_WM_DIAGRAM_VIRTUALLY_FRAME" val="{&quot;height&quot;:280,&quot;left&quot;:30,&quot;top&quot;:150,&quot;width&quot;:900}"/>
</p:tagLst>
</file>

<file path=ppt/tags/tag124.xml><?xml version="1.0" encoding="utf-8"?>
<p:tagLst xmlns:p="http://schemas.openxmlformats.org/presentationml/2006/main">
  <p:tag name="KSO_WM_DIAGRAM_VIRTUALLY_FRAME" val="{&quot;height&quot;:280,&quot;left&quot;:30,&quot;top&quot;:150,&quot;width&quot;:900}"/>
</p:tagLst>
</file>

<file path=ppt/tags/tag125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26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27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28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29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30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31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32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33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34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35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36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37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38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39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40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41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42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43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44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45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46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47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48.xml><?xml version="1.0" encoding="utf-8"?>
<p:tagLst xmlns:p="http://schemas.openxmlformats.org/presentationml/2006/main">
  <p:tag name="KSO_WM_DIAGRAM_VIRTUALLY_FRAME" val="{&quot;height&quot;:257.6,&quot;left&quot;:60,&quot;top&quot;:220,&quot;width&quot;:840}"/>
</p:tagLst>
</file>

<file path=ppt/tags/tag149.xml><?xml version="1.0" encoding="utf-8"?>
<p:tagLst xmlns:p="http://schemas.openxmlformats.org/presentationml/2006/main">
  <p:tag name="KSO_WM_DIAGRAM_VIRTUALLY_FRAME" val="{&quot;height&quot;:240,&quot;left&quot;:169.7,&quot;top&quot;:198.8,&quot;width&quot;:613.6}"/>
</p:tagLst>
</file>

<file path=ppt/tags/tag150.xml><?xml version="1.0" encoding="utf-8"?>
<p:tagLst xmlns:p="http://schemas.openxmlformats.org/presentationml/2006/main">
  <p:tag name="KSO_WM_DIAGRAM_VIRTUALLY_FRAME" val="{&quot;height&quot;:240,&quot;left&quot;:169.7,&quot;top&quot;:198.8,&quot;width&quot;:613.6}"/>
</p:tagLst>
</file>

<file path=ppt/tags/tag151.xml><?xml version="1.0" encoding="utf-8"?>
<p:tagLst xmlns:p="http://schemas.openxmlformats.org/presentationml/2006/main">
  <p:tag name="KSO_WM_DIAGRAM_VIRTUALLY_FRAME" val="{&quot;height&quot;:240,&quot;left&quot;:169.7,&quot;top&quot;:198.8,&quot;width&quot;:613.6}"/>
</p:tagLst>
</file>

<file path=ppt/tags/tag152.xml><?xml version="1.0" encoding="utf-8"?>
<p:tagLst xmlns:p="http://schemas.openxmlformats.org/presentationml/2006/main">
  <p:tag name="KSO_WM_DIAGRAM_VIRTUALLY_FRAME" val="{&quot;height&quot;:240,&quot;left&quot;:169.7,&quot;top&quot;:198.8,&quot;width&quot;:613.6}"/>
</p:tagLst>
</file>

<file path=ppt/tags/tag153.xml><?xml version="1.0" encoding="utf-8"?>
<p:tagLst xmlns:p="http://schemas.openxmlformats.org/presentationml/2006/main">
  <p:tag name="KSO_WM_DIAGRAM_VIRTUALLY_FRAME" val="{&quot;height&quot;:240,&quot;left&quot;:169.7,&quot;top&quot;:198.8,&quot;width&quot;:613.6}"/>
</p:tagLst>
</file>

<file path=ppt/tags/tag154.xml><?xml version="1.0" encoding="utf-8"?>
<p:tagLst xmlns:p="http://schemas.openxmlformats.org/presentationml/2006/main">
  <p:tag name="KSO_WM_DIAGRAM_VIRTUALLY_FRAME" val="{&quot;height&quot;:240,&quot;left&quot;:169.7,&quot;top&quot;:198.8,&quot;width&quot;:613.6}"/>
</p:tagLst>
</file>

<file path=ppt/tags/tag155.xml><?xml version="1.0" encoding="utf-8"?>
<p:tagLst xmlns:p="http://schemas.openxmlformats.org/presentationml/2006/main">
  <p:tag name="KSO_WM_DIAGRAM_VIRTUALLY_FRAME" val="{&quot;height&quot;:240,&quot;left&quot;:169.7,&quot;top&quot;:198.8,&quot;width&quot;:613.6}"/>
</p:tagLst>
</file>

<file path=ppt/tags/tag156.xml><?xml version="1.0" encoding="utf-8"?>
<p:tagLst xmlns:p="http://schemas.openxmlformats.org/presentationml/2006/main">
  <p:tag name="KSO_WM_DIAGRAM_VIRTUALLY_FRAME" val="{&quot;height&quot;:240,&quot;left&quot;:169.7,&quot;top&quot;:198.8,&quot;width&quot;:613.6}"/>
</p:tagLst>
</file>

<file path=ppt/tags/tag157.xml><?xml version="1.0" encoding="utf-8"?>
<p:tagLst xmlns:p="http://schemas.openxmlformats.org/presentationml/2006/main">
  <p:tag name="KSO_WM_DIAGRAM_VIRTUALLY_FRAME" val="{&quot;height&quot;:240,&quot;left&quot;:169.7,&quot;top&quot;:198.8,&quot;width&quot;:613.6}"/>
</p:tagLst>
</file>

<file path=ppt/tags/tag158.xml><?xml version="1.0" encoding="utf-8"?>
<p:tagLst xmlns:p="http://schemas.openxmlformats.org/presentationml/2006/main">
  <p:tag name="KSO_WM_DIAGRAM_VIRTUALLY_FRAME" val="{&quot;height&quot;:240,&quot;left&quot;:169.7,&quot;top&quot;:198.8,&quot;width&quot;:613.6}"/>
</p:tagLst>
</file>

<file path=ppt/tags/tag159.xml><?xml version="1.0" encoding="utf-8"?>
<p:tagLst xmlns:p="http://schemas.openxmlformats.org/presentationml/2006/main">
  <p:tag name="KSO_WM_DIAGRAM_VIRTUALLY_FRAME" val="{&quot;height&quot;:240,&quot;left&quot;:169.7,&quot;top&quot;:198.8,&quot;width&quot;:613.6}"/>
</p:tagLst>
</file>

<file path=ppt/tags/tag160.xml><?xml version="1.0" encoding="utf-8"?>
<p:tagLst xmlns:p="http://schemas.openxmlformats.org/presentationml/2006/main">
  <p:tag name="KSO_WM_DIAGRAM_VIRTUALLY_FRAME" val="{&quot;height&quot;:240,&quot;left&quot;:169.7,&quot;top&quot;:198.8,&quot;width&quot;:613.6}"/>
</p:tagLst>
</file>

<file path=ppt/tags/tag161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62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63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64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65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66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67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68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69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70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71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72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73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74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75.xml><?xml version="1.0" encoding="utf-8"?>
<p:tagLst xmlns:p="http://schemas.openxmlformats.org/presentationml/2006/main">
  <p:tag name="KSO_WM_DIAGRAM_VIRTUALLY_FRAME" val="{&quot;height&quot;:190.5,&quot;left&quot;:60,&quot;top&quot;:270,&quot;width&quot;:845.15}"/>
</p:tagLst>
</file>

<file path=ppt/tags/tag176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77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78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79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80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81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82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83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84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85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86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87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88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89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90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91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92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ags/tag193.xml><?xml version="1.0" encoding="utf-8"?>
<p:tagLst xmlns:p="http://schemas.openxmlformats.org/presentationml/2006/main">
  <p:tag name="KSO_WM_DIAGRAM_VIRTUALLY_FRAME" val="{&quot;height&quot;:323.2,&quot;left&quot;:60,&quot;top&quot;:156.8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1842</Words>
  <Application>WPS 演示</Application>
  <PresentationFormat/>
  <Paragraphs>242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 Black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熊文13237022986</cp:lastModifiedBy>
  <cp:revision>48</cp:revision>
  <dcterms:created xsi:type="dcterms:W3CDTF">2026-06-13T01:55:00Z</dcterms:created>
  <dcterms:modified xsi:type="dcterms:W3CDTF">2026-06-24T09:43:32Z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{"Label":"1","ContentProducer":"001191110102MACQD9K64010000","ProduceID":"7650683311903820761","ReservedCode1":"","ContentPropagator":"","PropagateID":"","ReservedCode2":""}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D0F604A2AC5549C180850FC2CFD30C60_13</vt:lpwstr>
  </property>
</Properties>
</file>